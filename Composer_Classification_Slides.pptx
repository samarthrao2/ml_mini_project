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Pieces</c:v>
                </c:pt>
              </c:strCache>
            </c:strRef>
          </c:tx>
          <c:spPr>
            <a:solidFill>
              <a:srgbClr val="6B3FA0"/>
            </a:solidFill>
            <a:effectLst/>
          </c:spPr>
          <c:invertIfNegative val="0"/>
          <c:dLbls>
            <c:numFmt formatCode="#,##0" sourceLinked="0"/>
            <c:txPr>
              <a:bodyPr/>
              <a:lstStyle/>
              <a:p>
                <a:pPr>
                  <a:defRPr b="0" i="0" strike="noStrike" sz="1200" u="none">
                    <a:solidFill>
                      <a:srgbClr val="1F1630"/>
                    </a:solidFill>
                    <a:latin typeface="Calibri"/>
                  </a:defRPr>
                </a:pPr>
              </a:p>
            </c:txPr>
            <c:showLegendKey val="0"/>
            <c:showVal val="1"/>
            <c:showCatName val="0"/>
            <c:showSerName val="0"/>
            <c:showPercent val="0"/>
            <c:showBubbleSize val="0"/>
            <c:showLeaderLines val="0"/>
          </c:dLbls>
          <c:cat>
            <c:multiLvlStrRef>
              <c:f>Sheet1!$A$2:$A$14</c:f>
              <c:multiLvlStrCache>
                <c:ptCount val="13"/>
                <c:lvl>
                  <c:pt idx="0">
                    <c:v>Chopin</c:v>
                  </c:pt>
                  <c:pt idx="1">
                    <c:v>Schubert</c:v>
                  </c:pt>
                  <c:pt idx="2">
                    <c:v>Bach</c:v>
                  </c:pt>
                  <c:pt idx="3">
                    <c:v>Liszt</c:v>
                  </c:pt>
                  <c:pt idx="4">
                    <c:v>Beethoven</c:v>
                  </c:pt>
                  <c:pt idx="5">
                    <c:v>Rachmaninoff</c:v>
                  </c:pt>
                  <c:pt idx="6">
                    <c:v>Debussy</c:v>
                  </c:pt>
                  <c:pt idx="7">
                    <c:v>Mozart</c:v>
                  </c:pt>
                  <c:pt idx="8">
                    <c:v>Schumann</c:v>
                  </c:pt>
                  <c:pt idx="9">
                    <c:v>Haydn</c:v>
                  </c:pt>
                  <c:pt idx="10">
                    <c:v>Scarlatti</c:v>
                  </c:pt>
                  <c:pt idx="11">
                    <c:v>Scriabin</c:v>
                  </c:pt>
                  <c:pt idx="12">
                    <c:v>Brahms</c:v>
                  </c:pt>
                </c:lvl>
              </c:multiLvlStrCache>
            </c:multiLvlStrRef>
          </c:cat>
          <c:val>
            <c:numRef>
              <c:f>Sheet1!$B$2:$B$14</c:f>
              <c:numCache>
                <c:formatCode>General</c:formatCode>
                <c:ptCount val="13"/>
                <c:pt idx="0">
                  <c:v>101</c:v>
                </c:pt>
                <c:pt idx="1">
                  <c:v>95</c:v>
                </c:pt>
                <c:pt idx="2">
                  <c:v>90</c:v>
                </c:pt>
                <c:pt idx="3">
                  <c:v>90</c:v>
                </c:pt>
                <c:pt idx="4">
                  <c:v>86</c:v>
                </c:pt>
                <c:pt idx="5">
                  <c:v>50</c:v>
                </c:pt>
                <c:pt idx="6">
                  <c:v>40</c:v>
                </c:pt>
                <c:pt idx="7">
                  <c:v>35</c:v>
                </c:pt>
                <c:pt idx="8">
                  <c:v>31</c:v>
                </c:pt>
                <c:pt idx="9">
                  <c:v>29</c:v>
                </c:pt>
                <c:pt idx="10">
                  <c:v>29</c:v>
                </c:pt>
                <c:pt idx="11">
                  <c:v>26</c:v>
                </c:pt>
                <c:pt idx="12">
                  <c:v>23</c:v>
                </c:pt>
              </c:numCache>
            </c:numRef>
          </c:val>
        </c:ser>
        <c:dLbls>
          <c:numFmt formatCode="#,##0" sourceLinked="0"/>
          <c:txPr>
            <a:bodyPr/>
            <a:lstStyle/>
            <a:p>
              <a:pPr>
                <a:defRPr b="0" i="0" strike="noStrike" sz="1200" u="none">
                  <a:solidFill>
                    <a:srgbClr val="1F1630"/>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16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5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Dev</c:v>
                </c:pt>
              </c:strCache>
            </c:strRef>
          </c:tx>
          <c:spPr>
            <a:solidFill>
              <a:srgbClr val="BFB5D6"/>
            </a:solidFill>
            <a:effectLst/>
          </c:spPr>
          <c:invertIfNegative val="0"/>
          <c:dLbls>
            <c:numFmt formatCode="0.00" sourceLinked="0"/>
            <c:txPr>
              <a:bodyPr/>
              <a:lstStyle/>
              <a:p>
                <a:pPr>
                  <a:defRPr b="0" i="0" strike="noStrike" sz="1000" u="none">
                    <a:solidFill>
                      <a:srgbClr val="1F163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LightGBM</c:v>
                  </c:pt>
                  <c:pt idx="1">
                    <c:v>SVM (RBF)</c:v>
                  </c:pt>
                  <c:pt idx="2">
                    <c:v>Softmax</c:v>
                  </c:pt>
                  <c:pt idx="3">
                    <c:v>MLP</c:v>
                  </c:pt>
                  <c:pt idx="4">
                    <c:v>LDA</c:v>
                  </c:pt>
                  <c:pt idx="5">
                    <c:v>k-NN</c:v>
                  </c:pt>
                </c:lvl>
              </c:multiLvlStrCache>
            </c:multiLvlStrRef>
          </c:cat>
          <c:val>
            <c:numRef>
              <c:f>Sheet1!$B$2:$B$7</c:f>
              <c:numCache>
                <c:formatCode>General</c:formatCode>
                <c:ptCount val="6"/>
                <c:pt idx="0">
                  <c:v>0.834</c:v>
                </c:pt>
                <c:pt idx="1">
                  <c:v>0.848</c:v>
                </c:pt>
                <c:pt idx="2">
                  <c:v>0.793</c:v>
                </c:pt>
                <c:pt idx="3">
                  <c:v>0.841</c:v>
                </c:pt>
                <c:pt idx="4">
                  <c:v>0.862</c:v>
                </c:pt>
                <c:pt idx="5">
                  <c:v>0.697</c:v>
                </c:pt>
              </c:numCache>
            </c:numRef>
          </c:val>
        </c:ser>
        <c:ser>
          <c:idx val="1"/>
          <c:order val="1"/>
          <c:tx>
            <c:strRef>
              <c:f>Sheet1!$C$1</c:f>
              <c:strCache>
                <c:ptCount val="1"/>
                <c:pt idx="0">
                  <c:v>Test</c:v>
                </c:pt>
              </c:strCache>
            </c:strRef>
          </c:tx>
          <c:spPr>
            <a:solidFill>
              <a:srgbClr val="6B3FA0"/>
            </a:solidFill>
            <a:effectLst/>
          </c:spPr>
          <c:invertIfNegative val="0"/>
          <c:dLbls>
            <c:numFmt formatCode="0.00" sourceLinked="0"/>
            <c:txPr>
              <a:bodyPr/>
              <a:lstStyle/>
              <a:p>
                <a:pPr>
                  <a:defRPr b="0" i="0" strike="noStrike" sz="1000" u="none">
                    <a:solidFill>
                      <a:srgbClr val="1F163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LightGBM</c:v>
                  </c:pt>
                  <c:pt idx="1">
                    <c:v>SVM (RBF)</c:v>
                  </c:pt>
                  <c:pt idx="2">
                    <c:v>Softmax</c:v>
                  </c:pt>
                  <c:pt idx="3">
                    <c:v>MLP</c:v>
                  </c:pt>
                  <c:pt idx="4">
                    <c:v>LDA</c:v>
                  </c:pt>
                  <c:pt idx="5">
                    <c:v>k-NN</c:v>
                  </c:pt>
                </c:lvl>
              </c:multiLvlStrCache>
            </c:multiLvlStrRef>
          </c:cat>
          <c:val>
            <c:numRef>
              <c:f>Sheet1!$C$2:$C$7</c:f>
              <c:numCache>
                <c:formatCode>General</c:formatCode>
                <c:ptCount val="6"/>
                <c:pt idx="0">
                  <c:v>0.869</c:v>
                </c:pt>
                <c:pt idx="1">
                  <c:v>0.855</c:v>
                </c:pt>
                <c:pt idx="2">
                  <c:v>0.855</c:v>
                </c:pt>
                <c:pt idx="3">
                  <c:v>0.841</c:v>
                </c:pt>
                <c:pt idx="4">
                  <c:v>0.814</c:v>
                </c:pt>
                <c:pt idx="5">
                  <c:v>0.759</c:v>
                </c:pt>
              </c:numCache>
            </c:numRef>
          </c:val>
        </c:ser>
        <c:dLbls>
          <c:numFmt formatCode="0.00" sourceLinked="0"/>
          <c:txPr>
            <a:bodyPr/>
            <a:lstStyle/>
            <a:p>
              <a:pPr>
                <a:defRPr b="0" i="0" strike="noStrike" sz="1000" u="none">
                  <a:solidFill>
                    <a:srgbClr val="1F163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630"/>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DD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470"/>
                </a:solidFill>
                <a:latin typeface="Calibri"/>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F16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Gain share</c:v>
                </c:pt>
              </c:strCache>
            </c:strRef>
          </c:tx>
          <c:spPr>
            <a:solidFill>
              <a:srgbClr val="6B3FA0"/>
            </a:solidFill>
            <a:effectLst/>
          </c:spPr>
          <c:invertIfNegative val="0"/>
          <c:dLbls>
            <c:numFmt formatCode="0%" sourceLinked="0"/>
            <c:txPr>
              <a:bodyPr/>
              <a:lstStyle/>
              <a:p>
                <a:pPr>
                  <a:defRPr b="0" i="0" strike="noStrike" sz="1200" u="none">
                    <a:solidFill>
                      <a:srgbClr val="1F163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Pitch</c:v>
                  </c:pt>
                  <c:pt idx="1">
                    <c:v>Melodic intervals</c:v>
                  </c:pt>
                  <c:pt idx="2">
                    <c:v>Vertical intervals</c:v>
                  </c:pt>
                  <c:pt idx="3">
                    <c:v>Rhythm</c:v>
                  </c:pt>
                  <c:pt idx="4">
                    <c:v>Dynamics</c:v>
                  </c:pt>
                  <c:pt idx="5">
                    <c:v>Texture</c:v>
                  </c:pt>
                </c:lvl>
              </c:multiLvlStrCache>
            </c:multiLvlStrRef>
          </c:cat>
          <c:val>
            <c:numRef>
              <c:f>Sheet1!$B$2:$B$7</c:f>
              <c:numCache>
                <c:formatCode>General</c:formatCode>
                <c:ptCount val="6"/>
                <c:pt idx="0">
                  <c:v>0.4669020694324136</c:v>
                </c:pt>
                <c:pt idx="1">
                  <c:v>0.2696456823928069</c:v>
                </c:pt>
                <c:pt idx="2">
                  <c:v>0.12762832629869952</c:v>
                </c:pt>
                <c:pt idx="3">
                  <c:v>0.09891718953935978</c:v>
                </c:pt>
                <c:pt idx="4">
                  <c:v>0.030757084635884523</c:v>
                </c:pt>
                <c:pt idx="5">
                  <c:v>0.00614964770083569</c:v>
                </c:pt>
              </c:numCache>
            </c:numRef>
          </c:val>
        </c:ser>
        <c:dLbls>
          <c:numFmt formatCode="0%" sourceLinked="0"/>
          <c:txPr>
            <a:bodyPr/>
            <a:lstStyle/>
            <a:p>
              <a:pPr>
                <a:defRPr b="0" i="0" strike="noStrike" sz="1200" u="none">
                  <a:solidFill>
                    <a:srgbClr val="1F163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1630"/>
                </a:solidFill>
                <a:latin typeface="Calibri"/>
              </a:defRPr>
            </a:pPr>
            <a:endParaRPr lang="en-US"/>
          </a:p>
        </c:txPr>
        <c:crossAx val="2094734552"/>
        <c:crosses val="autoZero"/>
        <c:auto val="1"/>
        <c:lblAlgn val="ctr"/>
        <c:noMultiLvlLbl val="1"/>
      </c:catAx>
      <c:valAx>
        <c:axId val="2094734552"/>
        <c:scaling>
          <c:orientation val="minMax"/>
          <c:max val="0.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54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Era test accuracy</c:v>
                </c:pt>
              </c:strCache>
            </c:strRef>
          </c:tx>
          <c:spPr>
            <a:solidFill>
              <a:srgbClr val="6B3FA0"/>
            </a:solidFill>
            <a:effectLst/>
          </c:spPr>
          <c:invertIfNegative val="0"/>
          <c:dLbls>
            <c:numFmt formatCode="0.00" sourceLinked="0"/>
            <c:txPr>
              <a:bodyPr/>
              <a:lstStyle/>
              <a:p>
                <a:pPr>
                  <a:defRPr b="0" i="0" strike="noStrike" sz="1100" u="none">
                    <a:solidFill>
                      <a:srgbClr val="1F1630"/>
                    </a:solidFill>
                    <a:latin typeface="Calibri"/>
                  </a:defRPr>
                </a:pPr>
              </a:p>
            </c:txPr>
            <c:dLblPos val="outEnd"/>
            <c:showLegendKey val="0"/>
            <c:showVal val="1"/>
            <c:showCatName val="0"/>
            <c:showSerName val="0"/>
            <c:showPercent val="0"/>
            <c:showBubbleSize val="0"/>
            <c:showLeaderLines val="0"/>
          </c:dLbls>
          <c:cat>
            <c:multiLvlStrRef>
              <c:f>Sheet1!$A$2:$A$8</c:f>
              <c:multiLvlStrCache>
                <c:ptCount val="7"/>
                <c:lvl>
                  <c:pt idx="0">
                    <c:v>All features</c:v>
                  </c:pt>
                  <c:pt idx="1">
                    <c:v>Pitch</c:v>
                  </c:pt>
                  <c:pt idx="2">
                    <c:v>Melodic intervals</c:v>
                  </c:pt>
                  <c:pt idx="3">
                    <c:v>Rhythm</c:v>
                  </c:pt>
                  <c:pt idx="4">
                    <c:v>Dynamics</c:v>
                  </c:pt>
                  <c:pt idx="5">
                    <c:v>Vertical intervals</c:v>
                  </c:pt>
                  <c:pt idx="6">
                    <c:v>Texture</c:v>
                  </c:pt>
                </c:lvl>
              </c:multiLvlStrCache>
            </c:multiLvlStrRef>
          </c:cat>
          <c:val>
            <c:numRef>
              <c:f>Sheet1!$B$2:$B$8</c:f>
              <c:numCache>
                <c:formatCode>General</c:formatCode>
                <c:ptCount val="7"/>
                <c:pt idx="0">
                  <c:v>0.988</c:v>
                </c:pt>
                <c:pt idx="1">
                  <c:v>0.976</c:v>
                </c:pt>
                <c:pt idx="2">
                  <c:v>0.963</c:v>
                </c:pt>
                <c:pt idx="3">
                  <c:v>0.927</c:v>
                </c:pt>
                <c:pt idx="4">
                  <c:v>0.878</c:v>
                </c:pt>
                <c:pt idx="5">
                  <c:v>0.866</c:v>
                </c:pt>
                <c:pt idx="6">
                  <c:v>0.732</c:v>
                </c:pt>
              </c:numCache>
            </c:numRef>
          </c:val>
        </c:ser>
        <c:dLbls>
          <c:numFmt formatCode="0.00" sourceLinked="0"/>
          <c:txPr>
            <a:bodyPr/>
            <a:lstStyle/>
            <a:p>
              <a:pPr>
                <a:defRPr b="0" i="0" strike="noStrike" sz="1100" u="none">
                  <a:solidFill>
                    <a:srgbClr val="1F1630"/>
                  </a:solidFill>
                  <a:latin typeface="Calibri"/>
                </a:defRPr>
              </a:pPr>
            </a:p>
          </c:txPr>
          <c:dLblPos val="outEnd"/>
          <c:showLegendKey val="0"/>
          <c:showVal val="1"/>
          <c:showCatName val="0"/>
          <c:showSerName val="0"/>
          <c:showPercent val="0"/>
          <c:showBubbleSize val="0"/>
          <c:showLeaderLines val="0"/>
        </c:dLbls>
        <c:gapWidth val="50"/>
        <c:overlap val="0"/>
        <c:axId val="2094734554"/>
        <c:axId val="2094734552"/>
        <c:axId val="2094734556"/>
      </c:barChart>
      <c:lineChart>
        <c:varyColors val="0"/>
        <c:ser>
          <c:idx val="1"/>
          <c:order val="1"/>
          <c:tx>
            <c:strRef>
              <c:f>Sheet1!$C$1</c:f>
              <c:strCache>
                <c:ptCount val="1"/>
                <c:pt idx="0">
                  <c:v>Always romantic</c:v>
                </c:pt>
              </c:strCache>
            </c:strRef>
          </c:tx>
          <c:spPr>
            <a:solidFill>
              <a:srgbClr val="F2A33A"/>
            </a:solidFill>
            <a:ln w="31750" cap="flat">
              <a:solidFill>
                <a:srgbClr val="F2A33A"/>
              </a:solidFill>
              <a:prstDash val="solid"/>
              <a:round/>
            </a:ln>
            <a:effectLst/>
          </c:spPr>
          <c:invertIfNegative val="0"/>
          <c:dLbls>
            <c:numFmt formatCode="0.00" sourceLinked="0"/>
            <c:txPr>
              <a:bodyPr/>
              <a:lstStyle/>
              <a:p>
                <a:pPr>
                  <a:defRPr b="0" i="0" strike="noStrike" sz="1100" u="none">
                    <a:solidFill>
                      <a:srgbClr val="1F1630"/>
                    </a:solidFill>
                    <a:latin typeface="Calibri"/>
                  </a:defRPr>
                </a:pPr>
              </a:p>
            </c:txPr>
            <c:dLblPos val="outEnd"/>
            <c:showLegendKey val="0"/>
            <c:showVal val="1"/>
            <c:showCatName val="0"/>
            <c:showSerName val="0"/>
            <c:showPercent val="0"/>
            <c:showBubbleSize val="0"/>
            <c:showLeaderLines val="0"/>
          </c:dLbls>
          <c:marker>
            <c:symbol val="none"/>
            <c:size val="6"/>
            <c:spPr>
              <a:solidFill>
                <a:srgbClr val="F2A33A"/>
              </a:solidFill>
              <a:ln w="9525" cap="flat">
                <a:solidFill>
                  <a:srgbClr val="F2A33A"/>
                </a:solidFill>
                <a:prstDash val="solid"/>
                <a:round/>
              </a:ln>
              <a:effectLst/>
            </c:spPr>
          </c:marker>
          <c:cat>
            <c:multiLvlStrRef>
              <c:f>Sheet1!$A$2:$A$8</c:f>
              <c:multiLvlStrCache>
                <c:ptCount val="7"/>
                <c:lvl>
                  <c:pt idx="0">
                    <c:v>All features</c:v>
                  </c:pt>
                  <c:pt idx="1">
                    <c:v>Pitch</c:v>
                  </c:pt>
                  <c:pt idx="2">
                    <c:v>Melodic intervals</c:v>
                  </c:pt>
                  <c:pt idx="3">
                    <c:v>Rhythm</c:v>
                  </c:pt>
                  <c:pt idx="4">
                    <c:v>Dynamics</c:v>
                  </c:pt>
                  <c:pt idx="5">
                    <c:v>Vertical intervals</c:v>
                  </c:pt>
                  <c:pt idx="6">
                    <c:v>Texture</c:v>
                  </c:pt>
                </c:lvl>
              </c:multiLvlStrCache>
            </c:multiLvlStrRef>
          </c:cat>
          <c:val>
            <c:numRef>
              <c:f>Sheet1!$C$2:$C$8</c:f>
              <c:numCache>
                <c:formatCode>General</c:formatCode>
                <c:ptCount val="7"/>
                <c:pt idx="0">
                  <c:v>0.622</c:v>
                </c:pt>
                <c:pt idx="1">
                  <c:v>0.622</c:v>
                </c:pt>
                <c:pt idx="2">
                  <c:v>0.622</c:v>
                </c:pt>
                <c:pt idx="3">
                  <c:v>0.622</c:v>
                </c:pt>
                <c:pt idx="4">
                  <c:v>0.622</c:v>
                </c:pt>
                <c:pt idx="5">
                  <c:v>0.622</c:v>
                </c:pt>
                <c:pt idx="6">
                  <c:v>0.622</c:v>
                </c:pt>
              </c:numCache>
            </c:numRef>
          </c:val>
          <c:smooth val="0"/>
        </c:ser>
        <c:dLbls>
          <c:numFmt formatCode="0.00" sourceLinked="0"/>
          <c:txPr>
            <a:bodyPr/>
            <a:lstStyle/>
            <a:p>
              <a:pPr>
                <a:defRPr b="0" i="0" strike="noStrike" sz="1100" u="none">
                  <a:solidFill>
                    <a:srgbClr val="1F1630"/>
                  </a:solidFill>
                  <a:latin typeface="Calibri"/>
                </a:defRPr>
              </a:pPr>
            </a:p>
          </c:txPr>
          <c:dLblPos val="outEnd"/>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1630"/>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DD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470"/>
                </a:solidFill>
                <a:latin typeface="Calibri"/>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F16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c:v>
                </c:pt>
              </c:strCache>
            </c:strRef>
          </c:tx>
          <c:spPr>
            <a:solidFill>
              <a:srgbClr val="BFB5D6"/>
            </a:solidFill>
            <a:ln w="38100" cap="flat">
              <a:solidFill>
                <a:srgbClr val="BFB5D6"/>
              </a:solidFill>
              <a:prstDash val="solid"/>
              <a:round/>
            </a:ln>
            <a:effectLst/>
          </c:spPr>
          <c:invertIfNegative val="0"/>
          <c:dLbls>
            <c:numFmt formatCode="#,##0" sourceLinked="0"/>
            <c:txPr>
              <a:bodyPr/>
              <a:lstStyle/>
              <a:p>
                <a:pPr>
                  <a:defRPr b="0" i="0" strike="noStrike" sz="1200" u="none">
                    <a:solidFill>
                      <a:srgbClr val="1F1630"/>
                    </a:solidFill>
                    <a:latin typeface="Calibri"/>
                  </a:defRPr>
                </a:pPr>
              </a:p>
            </c:txPr>
            <c:showLegendKey val="0"/>
            <c:showVal val="0"/>
            <c:showCatName val="0"/>
            <c:showSerName val="0"/>
            <c:showPercent val="0"/>
            <c:showBubbleSize val="0"/>
            <c:showLeaderLines val="0"/>
          </c:dLbls>
          <c:marker>
            <c:symbol val="circle"/>
            <c:size val="8"/>
            <c:spPr>
              <a:solidFill>
                <a:srgbClr val="BFB5D6"/>
              </a:solidFill>
              <a:ln w="9525" cap="flat">
                <a:solidFill>
                  <a:srgbClr val="BFB5D6"/>
                </a:solidFill>
                <a:prstDash val="solid"/>
                <a:round/>
              </a:ln>
              <a:effectLst/>
            </c:spPr>
          </c:marker>
          <c:cat>
            <c:multiLvlStrRef>
              <c:f>Sheet1!$A$2:$A$6</c:f>
              <c:multiLvlStrCache>
                <c:ptCount val="5"/>
                <c:lvl>
                  <c:pt idx="0">
                    <c:v>2</c:v>
                  </c:pt>
                  <c:pt idx="1">
                    <c:v>10</c:v>
                  </c:pt>
                  <c:pt idx="2">
                    <c:v>50</c:v>
                  </c:pt>
                  <c:pt idx="3">
                    <c:v>100</c:v>
                  </c:pt>
                  <c:pt idx="4">
                    <c:v>186</c:v>
                  </c:pt>
                </c:lvl>
              </c:multiLvlStrCache>
            </c:multiLvlStrRef>
          </c:cat>
          <c:val>
            <c:numRef>
              <c:f>Sheet1!$B$2:$B$6</c:f>
              <c:numCache>
                <c:formatCode>General</c:formatCode>
                <c:ptCount val="5"/>
                <c:pt idx="0">
                  <c:v>0.487</c:v>
                </c:pt>
                <c:pt idx="1">
                  <c:v>0.961</c:v>
                </c:pt>
                <c:pt idx="2">
                  <c:v>1</c:v>
                </c:pt>
                <c:pt idx="3">
                  <c:v>1</c:v>
                </c:pt>
                <c:pt idx="4">
                  <c:v>1</c:v>
                </c:pt>
              </c:numCache>
            </c:numRef>
          </c:val>
          <c:smooth val="0"/>
        </c:ser>
        <c:ser>
          <c:idx val="1"/>
          <c:order val="1"/>
          <c:tx>
            <c:strRef>
              <c:f>Sheet1!$C$1</c:f>
              <c:strCache>
                <c:ptCount val="1"/>
                <c:pt idx="0">
                  <c:v>Dev</c:v>
                </c:pt>
              </c:strCache>
            </c:strRef>
          </c:tx>
          <c:spPr>
            <a:solidFill>
              <a:srgbClr val="6B3FA0"/>
            </a:solidFill>
            <a:ln w="38100" cap="flat">
              <a:solidFill>
                <a:srgbClr val="6B3FA0"/>
              </a:solidFill>
              <a:prstDash val="solid"/>
              <a:round/>
            </a:ln>
            <a:effectLst/>
          </c:spPr>
          <c:invertIfNegative val="0"/>
          <c:dLbls>
            <c:numFmt formatCode="#,##0" sourceLinked="0"/>
            <c:txPr>
              <a:bodyPr/>
              <a:lstStyle/>
              <a:p>
                <a:pPr>
                  <a:defRPr b="0" i="0" strike="noStrike" sz="1200" u="none">
                    <a:solidFill>
                      <a:srgbClr val="1F1630"/>
                    </a:solidFill>
                    <a:latin typeface="Calibri"/>
                  </a:defRPr>
                </a:pPr>
              </a:p>
            </c:txPr>
            <c:showLegendKey val="0"/>
            <c:showVal val="0"/>
            <c:showCatName val="0"/>
            <c:showSerName val="0"/>
            <c:showPercent val="0"/>
            <c:showBubbleSize val="0"/>
            <c:showLeaderLines val="0"/>
          </c:dLbls>
          <c:marker>
            <c:symbol val="circle"/>
            <c:size val="8"/>
            <c:spPr>
              <a:solidFill>
                <a:srgbClr val="6B3FA0"/>
              </a:solidFill>
              <a:ln w="9525" cap="flat">
                <a:solidFill>
                  <a:srgbClr val="6B3FA0"/>
                </a:solidFill>
                <a:prstDash val="solid"/>
                <a:round/>
              </a:ln>
              <a:effectLst/>
            </c:spPr>
          </c:marker>
          <c:cat>
            <c:multiLvlStrRef>
              <c:f>Sheet1!$A$2:$A$6</c:f>
              <c:multiLvlStrCache>
                <c:ptCount val="5"/>
                <c:lvl>
                  <c:pt idx="0">
                    <c:v>2</c:v>
                  </c:pt>
                  <c:pt idx="1">
                    <c:v>10</c:v>
                  </c:pt>
                  <c:pt idx="2">
                    <c:v>50</c:v>
                  </c:pt>
                  <c:pt idx="3">
                    <c:v>100</c:v>
                  </c:pt>
                  <c:pt idx="4">
                    <c:v>186</c:v>
                  </c:pt>
                </c:lvl>
              </c:multiLvlStrCache>
            </c:multiLvlStrRef>
          </c:cat>
          <c:val>
            <c:numRef>
              <c:f>Sheet1!$C$2:$C$6</c:f>
              <c:numCache>
                <c:formatCode>General</c:formatCode>
                <c:ptCount val="5"/>
                <c:pt idx="0">
                  <c:v>0.448</c:v>
                </c:pt>
                <c:pt idx="1">
                  <c:v>0.683</c:v>
                </c:pt>
                <c:pt idx="2">
                  <c:v>0.821</c:v>
                </c:pt>
                <c:pt idx="3">
                  <c:v>0.855</c:v>
                </c:pt>
                <c:pt idx="4">
                  <c:v>0.848</c:v>
                </c:pt>
              </c:numCache>
            </c:numRef>
          </c:val>
          <c:smooth val="0"/>
        </c:ser>
        <c:dLbls>
          <c:numFmt formatCode="#,##0" sourceLinked="0"/>
          <c:txPr>
            <a:bodyPr/>
            <a:lstStyle/>
            <a:p>
              <a:pPr>
                <a:defRPr b="0" i="0" strike="noStrike" sz="1200" u="none">
                  <a:solidFill>
                    <a:srgbClr val="1F1630"/>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5470"/>
                    </a:solidFill>
                    <a:latin typeface="Arial"/>
                  </a:defRPr>
                </a:pPr>
                <a:r>
                  <a:rPr sz="1200" b="0" i="0" u="none" strike="noStrike">
                    <a:solidFill>
                      <a:srgbClr val="5B5470"/>
                    </a:solidFill>
                    <a:latin typeface="Arial"/>
                  </a:rPr>
                  <a:t>PCA components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1630"/>
                </a:solidFill>
                <a:latin typeface="Calibri"/>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4DD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5470"/>
                </a:solidFill>
                <a:latin typeface="Calibri"/>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F16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in one sentence: given a MIDI file of a classical piece, predict the composer. We compare six classic ML models on 186 music-theory features, based on a Stanford CS229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Composers have a style like handwriting. A computer cannot hear style but it can count things, so we count 186 properties of each piece and let machine-learning models learn which counts go with which composer. It is hard because same-period composers sound alike; humans only got 57% on Mozart vs Haydn in one study. MIDI is sheet music for a computer, so there is no recording quality or performer sound to rely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MAESTRO v3.0.0 has 1,276 recordings. The same piece is played by several pianists, so we kept one recording per piece, removed 54 arrangements credited to two composers, and dropped composers with fewer than 20 pieces. Result: 725 pieces by 13 composers. We then split them into three piles: 435 to learn from, 145 to choose the best model, 145 as the final exam. Keeping one recording per piece means the test pieces are never music the model has already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Parse the MIDI into a list of notes, compute 186 features, split 60/20/20 and scale using training pieces only, train and compare the six models, then predict the composer of a new file. Each stage is a separate script (midi_utils, features, prepare_data, train_tabular, predict) so it can be re-run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piece is summarised by fixed-size statistics so every piece becomes a vector of the same length. Pitch features are rotated to the detected tonic, so a piece and its transposition look alike. Vertical features include the dissonance ratio and parallel fifths/octaves.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receive the same standardised 186-number vector and output a composer. They differ in how they find the rule: a weighted sum (softmax), a maximum-margin boundary (SVM), Gaussian classes (LDA), nearest neighbours (k-NN), a one-hidden-layer network (MLP), and boosted decision trees (LightGBM).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follow the paper where it gives them (SVM C=5.5, MLP 1x150 with SGD lr 0.04 momentum 0.9, LightGBM 700 rounds with L2 10 and bagging 0.6). LDA and k-NN settings were our choice. These were not re-tuned on our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 picks the model, test is touched once. The scaler is fit on training pieces only so test statistics cannot leak. Macro averaging gives rare composers like Brahms the same weight as Chopin.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LightGBM has the highest test accuracy at 0.869, then SVM and Softmax at 0.855. With only 145 test pieces one piece is about 0.7 points, so these three are statistically tied. k-NN is weakest because distances degrade in 186 dimensions. LDA had the best dev accuracy, so it is the model predict.py loads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Test-set accuracy plus macro-averaged precision, recall and F1: each score is computed per composer and then averaged, so rare composers like Brahms count as much as Chopin. Precision: of the pieces predicted as a composer, how many truly are. Recall: of a composer's true pieces, how many we found. F1 balances the two. SVM has the best macro-F1 (0.807) even though LightGBM has the best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Gain is the training-error reduction from splits on a feature, summed over all trees, then summed per family and divided by the total. Pitch is largest partly because it has 64 features. Per feature, melodic and pitch and vertical are similar and more than twice as useful as rhythm; texture is near zero because MAESTRO is piano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relabel pieces as baroque, classical or romantic and train LightGBM using only one feature family. The test set has 82 pieces: 51 romantic, 18 baroque, 13 classical, so always guessing romantic scores 0.622. Pitch and melodic features alone nearly match all features; texture is barely above the baseline because the data is piano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test confusion matrix of the model chosen on dev, which is LDA. Most pieces sit on the diagonal. Distant styles are almost never confused (Bach 18/18, Beethoven 17/17). Mistakes concentrate between neighbouring composers and on composers with few pieces (Brahms 3/5, Scarlatti 2/6, Scriabin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one piece placed by the first two principal components of its 186 standardised features. PCA is unsupervised: colours were added afterwards. Bach and Liszt separate, while Haydn, Mozart and Scarlatti overlap and the romantic pianists sit mixed in the middle. The two axes explain only 27% of the variance, so overlap here does not mean two composers cannot be separated in all 186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squeezes the 186 features into k axes before an SVM. Training accuracy hits 1.0 by 50 components but dev accuracy keeps rising to about 0.85 at 100, so style information is spread across many directions. Pairwise: one logistic regression per pair of composers, 78 pairs, mean test accuracy 0.97.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2800" b="1" dirty="0">
                <a:solidFill>
                  <a:srgbClr val="1F1630"/>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A174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937760" cy="1554480"/>
          </a:xfrm>
          <a:prstGeom prst="rect">
            <a:avLst/>
          </a:prstGeom>
          <a:noFill/>
          <a:ln/>
        </p:spPr>
        <p:txBody>
          <a:bodyPr wrap="square" rtlCol="0"/>
          <a:lstStyle>
            <a:lvl1pPr indent="0" marL="0">
              <a:buNone/>
              <a:defRPr lang="en-US" sz="3200" b="1" dirty="0">
                <a:solidFill>
                  <a:srgbClr val="FFFFFF"/>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ph idx="101" type="body" hasCustomPrompt="1"/>
          </p:nvPr>
        </p:nvSpPr>
        <p:spPr>
          <a:xfrm>
            <a:off x="548640" y="2514600"/>
            <a:ext cx="4754880" cy="2286000"/>
          </a:xfrm>
          <a:prstGeom prst="rect">
            <a:avLst/>
          </a:prstGeom>
          <a:noFill/>
          <a:ln/>
        </p:spPr>
        <p:txBody>
          <a:bodyPr wrap="square" rtlCol="0"/>
          <a:lstStyle>
            <a:lvl1pPr indent="0" marL="0">
              <a:buNone/>
              <a:defRPr lang="en-US" sz="1800" dirty="0">
                <a:solidFill>
                  <a:srgbClr val="BFB5D6"/>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49377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Composer Classification from MIDI</a:t>
            </a:r>
            <a:endParaRPr lang="en-US" sz="3200" dirty="0"/>
          </a:p>
        </p:txBody>
      </p:sp>
      <p:sp>
        <p:nvSpPr>
          <p:cNvPr id="3" name="Text 0"/>
          <p:cNvSpPr/>
          <p:nvPr>
            <p:ph idx="101" type="body" hasCustomPrompt="1"/>
          </p:nvPr>
        </p:nvSpPr>
        <p:spPr>
          <a:xfrm>
            <a:off x="548640" y="2514600"/>
            <a:ext cx="4754880" cy="2286000"/>
          </a:xfrm>
          <a:prstGeom prst="rect">
            <a:avLst/>
          </a:prstGeom>
          <a:noFill/>
          <a:ln/>
        </p:spPr>
        <p:txBody>
          <a:bodyPr wrap="square" lIns="0" tIns="0" rIns="0" bIns="0" rtlCol="0" anchor="t"/>
          <a:lstStyle/>
          <a:p>
            <a:pPr indent="0" marL="0">
              <a:buNone/>
            </a:pPr>
            <a:r>
              <a:rPr lang="en-US" sz="1800" dirty="0">
                <a:solidFill>
                  <a:srgbClr val="BFB5D6"/>
                </a:solidFill>
                <a:latin typeface="Calibri" pitchFamily="34" charset="0"/>
                <a:ea typeface="Calibri" pitchFamily="34" charset="-122"/>
                <a:cs typeface="Calibri" pitchFamily="34" charset="-120"/>
              </a:rPr>
              <a:t>Six machine-learning models on 186 music-theory features</a:t>
            </a:r>
            <a:endParaRPr lang="en-US" sz="1800" dirty="0"/>
          </a:p>
          <a:p>
            <a:pPr indent="0" marL="0">
              <a:buNone/>
            </a:pPr>
            <a:r>
              <a:rPr lang="en-US" sz="1400" dirty="0">
                <a:solidFill>
                  <a:srgbClr val="F2A33A"/>
                </a:solidFill>
                <a:latin typeface="Calibri" pitchFamily="34" charset="0"/>
                <a:ea typeface="Calibri" pitchFamily="34" charset="-122"/>
                <a:cs typeface="Calibri" pitchFamily="34" charset="-120"/>
              </a:rPr>
              <a:t>UE24CS352A Machine Learning  |  Mini-Project</a:t>
            </a:r>
            <a:endParaRPr lang="en-US" sz="1800" dirty="0"/>
          </a:p>
        </p:txBody>
      </p:sp>
      <p:sp>
        <p:nvSpPr>
          <p:cNvPr id="4" name="note bar 1"/>
          <p:cNvSpPr/>
          <p:nvPr/>
        </p:nvSpPr>
        <p:spPr>
          <a:xfrm>
            <a:off x="5852160" y="822960"/>
            <a:ext cx="2103120" cy="292608"/>
          </a:xfrm>
          <a:prstGeom prst="roundRect">
            <a:avLst>
              <a:gd name="adj" fmla="val 50000"/>
            </a:avLst>
          </a:prstGeom>
          <a:solidFill>
            <a:srgbClr val="6B3FA0"/>
          </a:solidFill>
          <a:ln/>
        </p:spPr>
      </p:sp>
      <p:sp>
        <p:nvSpPr>
          <p:cNvPr id="5" name="note bar 2"/>
          <p:cNvSpPr/>
          <p:nvPr/>
        </p:nvSpPr>
        <p:spPr>
          <a:xfrm>
            <a:off x="6583680" y="1325880"/>
            <a:ext cx="1737360" cy="292608"/>
          </a:xfrm>
          <a:prstGeom prst="roundRect">
            <a:avLst>
              <a:gd name="adj" fmla="val 50000"/>
            </a:avLst>
          </a:prstGeom>
          <a:solidFill>
            <a:srgbClr val="F2A33A"/>
          </a:solidFill>
          <a:ln/>
        </p:spPr>
      </p:sp>
      <p:sp>
        <p:nvSpPr>
          <p:cNvPr id="6" name="note bar 3"/>
          <p:cNvSpPr/>
          <p:nvPr/>
        </p:nvSpPr>
        <p:spPr>
          <a:xfrm>
            <a:off x="5486400" y="1828800"/>
            <a:ext cx="2651760" cy="292608"/>
          </a:xfrm>
          <a:prstGeom prst="roundRect">
            <a:avLst>
              <a:gd name="adj" fmla="val 50000"/>
            </a:avLst>
          </a:prstGeom>
          <a:solidFill>
            <a:srgbClr val="8E7DBE"/>
          </a:solidFill>
          <a:ln/>
        </p:spPr>
      </p:sp>
      <p:sp>
        <p:nvSpPr>
          <p:cNvPr id="7" name="note bar 4"/>
          <p:cNvSpPr/>
          <p:nvPr/>
        </p:nvSpPr>
        <p:spPr>
          <a:xfrm>
            <a:off x="6949440" y="2331720"/>
            <a:ext cx="1463040" cy="292608"/>
          </a:xfrm>
          <a:prstGeom prst="roundRect">
            <a:avLst>
              <a:gd name="adj" fmla="val 50000"/>
            </a:avLst>
          </a:prstGeom>
          <a:solidFill>
            <a:srgbClr val="3FA796"/>
          </a:solidFill>
          <a:ln/>
        </p:spPr>
      </p:sp>
      <p:sp>
        <p:nvSpPr>
          <p:cNvPr id="8" name="note bar 5"/>
          <p:cNvSpPr/>
          <p:nvPr/>
        </p:nvSpPr>
        <p:spPr>
          <a:xfrm>
            <a:off x="6126480" y="2834640"/>
            <a:ext cx="2011680" cy="292608"/>
          </a:xfrm>
          <a:prstGeom prst="roundRect">
            <a:avLst>
              <a:gd name="adj" fmla="val 50000"/>
            </a:avLst>
          </a:prstGeom>
          <a:solidFill>
            <a:srgbClr val="6B3FA0"/>
          </a:solidFill>
          <a:ln/>
        </p:spPr>
      </p:sp>
      <p:sp>
        <p:nvSpPr>
          <p:cNvPr id="9" name="note bar 6"/>
          <p:cNvSpPr/>
          <p:nvPr/>
        </p:nvSpPr>
        <p:spPr>
          <a:xfrm>
            <a:off x="5669280" y="3337560"/>
            <a:ext cx="1280160" cy="292608"/>
          </a:xfrm>
          <a:prstGeom prst="roundRect">
            <a:avLst>
              <a:gd name="adj" fmla="val 50000"/>
            </a:avLst>
          </a:prstGeom>
          <a:solidFill>
            <a:srgbClr val="F2A33A"/>
          </a:solidFill>
          <a:ln/>
        </p:spPr>
      </p:sp>
      <p:sp>
        <p:nvSpPr>
          <p:cNvPr id="10" name="note bar 7"/>
          <p:cNvSpPr/>
          <p:nvPr/>
        </p:nvSpPr>
        <p:spPr>
          <a:xfrm>
            <a:off x="6766560" y="3840480"/>
            <a:ext cx="1737360" cy="292608"/>
          </a:xfrm>
          <a:prstGeom prst="roundRect">
            <a:avLst>
              <a:gd name="adj" fmla="val 50000"/>
            </a:avLst>
          </a:prstGeom>
          <a:solidFill>
            <a:srgbClr val="8E7DB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The task: name the composer from notes</a:t>
            </a:r>
            <a:endParaRPr lang="en-US" sz="2800" dirty="0"/>
          </a:p>
        </p:txBody>
      </p:sp>
      <p:sp>
        <p:nvSpPr>
          <p:cNvPr id="4" name="Text 1"/>
          <p:cNvSpPr txBox="1"/>
          <p:nvPr/>
        </p:nvSpPr>
        <p:spPr>
          <a:xfrm>
            <a:off x="457200" y="1188720"/>
            <a:ext cx="4023360" cy="2468880"/>
          </a:xfrm>
          <a:prstGeom prst="rect">
            <a:avLst/>
          </a:prstGeom>
          <a:noFill/>
          <a:ln/>
        </p:spPr>
        <p:txBody>
          <a:bodyPr wrap="square" lIns="0" tIns="0" rIns="0" bIns="0" rtlCol="0" anchor="t"/>
          <a:lstStyle/>
          <a:p>
            <a:pPr indent="0" marL="0">
              <a:spcAft>
                <a:spcPts val="600"/>
              </a:spcAft>
              <a:buNone/>
            </a:pPr>
            <a:r>
              <a:rPr lang="en-US" sz="1800" b="1" dirty="0">
                <a:solidFill>
                  <a:srgbClr val="6B3FA0"/>
                </a:solidFill>
                <a:latin typeface="Calibri" pitchFamily="34" charset="0"/>
                <a:ea typeface="Calibri" pitchFamily="34" charset="-122"/>
                <a:cs typeface="Calibri" pitchFamily="34" charset="-120"/>
              </a:rPr>
              <a:t>The idea</a:t>
            </a:r>
            <a:endParaRPr lang="en-US" sz="1400" dirty="0"/>
          </a:p>
          <a:p>
            <a:pPr indent="0" marL="0">
              <a:spcAft>
                <a:spcPts val="800"/>
              </a:spcAft>
              <a:buNone/>
            </a:pPr>
            <a:r>
              <a:rPr lang="en-US" sz="1400" dirty="0">
                <a:solidFill>
                  <a:srgbClr val="1F1630"/>
                </a:solidFill>
                <a:latin typeface="Calibri" pitchFamily="34" charset="0"/>
                <a:ea typeface="Calibri" pitchFamily="34" charset="-122"/>
                <a:cs typeface="Calibri" pitchFamily="34" charset="-120"/>
              </a:rPr>
              <a:t>Composers have a style, like handwriting. Bach: many small steps with melodies woven together. Liszt: fast, leaping, tense. Debussy: clashing, dreamy harmonies.</a:t>
            </a:r>
            <a:endParaRPr lang="en-US" sz="1400" dirty="0"/>
          </a:p>
          <a:p>
            <a:pPr indent="0" marL="0">
              <a:buNone/>
            </a:pPr>
            <a:r>
              <a:rPr lang="en-US" sz="1400" dirty="0">
                <a:solidFill>
                  <a:srgbClr val="1F1630"/>
                </a:solidFill>
                <a:latin typeface="Calibri" pitchFamily="34" charset="0"/>
                <a:ea typeface="Calibri" pitchFamily="34" charset="-122"/>
                <a:cs typeface="Calibri" pitchFamily="34" charset="-120"/>
              </a:rPr>
              <a:t>A computer can't hear style, but it can count: how often notes jump, how many sound at once, how loud the piece is. If composers have different counts, a program can learn to tell them apart.</a:t>
            </a:r>
            <a:endParaRPr lang="en-US" sz="1400" dirty="0"/>
          </a:p>
        </p:txBody>
      </p:sp>
      <p:sp>
        <p:nvSpPr>
          <p:cNvPr id="5" name="Text 2"/>
          <p:cNvSpPr txBox="1"/>
          <p:nvPr/>
        </p:nvSpPr>
        <p:spPr>
          <a:xfrm>
            <a:off x="4754880" y="1188720"/>
            <a:ext cx="3931920" cy="2468880"/>
          </a:xfrm>
          <a:prstGeom prst="rect">
            <a:avLst/>
          </a:prstGeom>
          <a:noFill/>
          <a:ln/>
        </p:spPr>
        <p:txBody>
          <a:bodyPr wrap="square" lIns="0" tIns="0" rIns="0" bIns="0" rtlCol="0" anchor="t"/>
          <a:lstStyle/>
          <a:p>
            <a:pPr indent="0" marL="0">
              <a:spcAft>
                <a:spcPts val="600"/>
              </a:spcAft>
              <a:buNone/>
            </a:pPr>
            <a:r>
              <a:rPr lang="en-US" sz="1800" b="1" dirty="0">
                <a:solidFill>
                  <a:srgbClr val="6B3FA0"/>
                </a:solidFill>
                <a:latin typeface="Calibri" pitchFamily="34" charset="0"/>
                <a:ea typeface="Calibri" pitchFamily="34" charset="-122"/>
                <a:cs typeface="Calibri" pitchFamily="34" charset="-120"/>
              </a:rPr>
              <a:t>Why is it hard?</a:t>
            </a:r>
            <a:endParaRPr lang="en-US" sz="1400" dirty="0"/>
          </a:p>
          <a:p>
            <a:pPr indent="0" marL="0">
              <a:spcAft>
                <a:spcPts val="1000"/>
              </a:spcAft>
              <a:buNone/>
            </a:pPr>
            <a:r>
              <a:rPr lang="en-US" sz="1400" dirty="0">
                <a:solidFill>
                  <a:srgbClr val="1F1630"/>
                </a:solidFill>
                <a:latin typeface="Calibri" pitchFamily="34" charset="0"/>
                <a:ea typeface="Calibri" pitchFamily="34" charset="-122"/>
                <a:cs typeface="Calibri" pitchFamily="34" charset="-120"/>
              </a:rPr>
              <a:t>Same-period composers (e.g. Mozart and Haydn) sound alike. Humans got only 57% right in one study.</a:t>
            </a:r>
            <a:endParaRPr lang="en-US" sz="1400" dirty="0"/>
          </a:p>
          <a:p>
            <a:pPr indent="0" marL="0">
              <a:spcAft>
                <a:spcPts val="600"/>
              </a:spcAft>
              <a:buNone/>
            </a:pPr>
            <a:r>
              <a:rPr lang="en-US" sz="1800" b="1" dirty="0">
                <a:solidFill>
                  <a:srgbClr val="6B3FA0"/>
                </a:solidFill>
                <a:latin typeface="Calibri" pitchFamily="34" charset="0"/>
                <a:ea typeface="Calibri" pitchFamily="34" charset="-122"/>
                <a:cs typeface="Calibri" pitchFamily="34" charset="-120"/>
              </a:rPr>
              <a:t>Why MIDI, not MP3?</a:t>
            </a:r>
            <a:endParaRPr lang="en-US" sz="1400" dirty="0"/>
          </a:p>
          <a:p>
            <a:pPr indent="0" marL="0">
              <a:buNone/>
            </a:pPr>
            <a:r>
              <a:rPr lang="en-US" sz="1400" dirty="0">
                <a:solidFill>
                  <a:srgbClr val="1F1630"/>
                </a:solidFill>
                <a:latin typeface="Calibri" pitchFamily="34" charset="0"/>
                <a:ea typeface="Calibri" pitchFamily="34" charset="-122"/>
                <a:cs typeface="Calibri" pitchFamily="34" charset="-120"/>
              </a:rPr>
              <a:t>A MIDI file is sheet music for a computer: which notes, when, how long, how hard. No recording quality or singer, so the program must judge the music itself.</a:t>
            </a:r>
            <a:endParaRPr lang="en-US" sz="1400" dirty="0"/>
          </a:p>
        </p:txBody>
      </p:sp>
      <p:sp>
        <p:nvSpPr>
          <p:cNvPr id="6" name="flow 1"/>
          <p:cNvSpPr/>
          <p:nvPr/>
        </p:nvSpPr>
        <p:spPr>
          <a:xfrm>
            <a:off x="457200" y="3840480"/>
            <a:ext cx="1444752" cy="685800"/>
          </a:xfrm>
          <a:prstGeom prst="roundRect">
            <a:avLst>
              <a:gd name="adj" fmla="val 10667"/>
            </a:avLst>
          </a:prstGeom>
          <a:solidFill>
            <a:srgbClr val="F1ECF8"/>
          </a:solidFill>
          <a:ln/>
        </p:spPr>
      </p:sp>
      <p:sp>
        <p:nvSpPr>
          <p:cNvPr id="7" name="Text 4"/>
          <p:cNvSpPr txBox="1"/>
          <p:nvPr/>
        </p:nvSpPr>
        <p:spPr>
          <a:xfrm>
            <a:off x="457200" y="3840480"/>
            <a:ext cx="1444752" cy="685800"/>
          </a:xfrm>
          <a:prstGeom prst="rect">
            <a:avLst/>
          </a:prstGeom>
          <a:noFill/>
          <a:ln/>
        </p:spPr>
        <p:txBody>
          <a:bodyPr wrap="square" lIns="0" tIns="0" rIns="0" bIns="0" rtlCol="0" anchor="ctr"/>
          <a:lstStyle/>
          <a:p>
            <a:pPr algn="ctr" indent="0" marL="0">
              <a:buNone/>
            </a:pPr>
            <a:r>
              <a:rPr lang="en-US" sz="1400" b="1" dirty="0">
                <a:solidFill>
                  <a:srgbClr val="1F1630"/>
                </a:solidFill>
                <a:latin typeface="Calibri" pitchFamily="34" charset="0"/>
                <a:ea typeface="Calibri" pitchFamily="34" charset="-122"/>
                <a:cs typeface="Calibri" pitchFamily="34" charset="-120"/>
              </a:rPr>
              <a:t>MIDI file</a:t>
            </a:r>
            <a:endParaRPr lang="en-US" sz="1400" dirty="0"/>
          </a:p>
        </p:txBody>
      </p:sp>
      <p:sp>
        <p:nvSpPr>
          <p:cNvPr id="8" name="Text 5"/>
          <p:cNvSpPr txBox="1"/>
          <p:nvPr/>
        </p:nvSpPr>
        <p:spPr>
          <a:xfrm>
            <a:off x="1901952" y="3840480"/>
            <a:ext cx="251460" cy="685800"/>
          </a:xfrm>
          <a:prstGeom prst="rect">
            <a:avLst/>
          </a:prstGeom>
          <a:noFill/>
          <a:ln/>
        </p:spPr>
        <p:txBody>
          <a:bodyPr wrap="square" lIns="0" tIns="0" rIns="0" bIns="0" rtlCol="0" anchor="ctr"/>
          <a:lstStyle/>
          <a:p>
            <a:pPr algn="ctr" indent="0" marL="0">
              <a:buNone/>
            </a:pPr>
            <a:r>
              <a:rPr lang="en-US" sz="1800" b="1" dirty="0">
                <a:solidFill>
                  <a:srgbClr val="F2A33A"/>
                </a:solidFill>
                <a:latin typeface="Calibri" pitchFamily="34" charset="0"/>
                <a:ea typeface="Calibri" pitchFamily="34" charset="-122"/>
                <a:cs typeface="Calibri" pitchFamily="34" charset="-120"/>
              </a:rPr>
              <a:t>&gt;</a:t>
            </a:r>
            <a:endParaRPr lang="en-US" sz="1800" dirty="0"/>
          </a:p>
        </p:txBody>
      </p:sp>
      <p:sp>
        <p:nvSpPr>
          <p:cNvPr id="9" name="flow 2"/>
          <p:cNvSpPr/>
          <p:nvPr/>
        </p:nvSpPr>
        <p:spPr>
          <a:xfrm>
            <a:off x="2153412" y="3840480"/>
            <a:ext cx="1444752" cy="685800"/>
          </a:xfrm>
          <a:prstGeom prst="roundRect">
            <a:avLst>
              <a:gd name="adj" fmla="val 10667"/>
            </a:avLst>
          </a:prstGeom>
          <a:solidFill>
            <a:srgbClr val="F1ECF8"/>
          </a:solidFill>
          <a:ln/>
        </p:spPr>
      </p:sp>
      <p:sp>
        <p:nvSpPr>
          <p:cNvPr id="10" name="Text 7"/>
          <p:cNvSpPr txBox="1"/>
          <p:nvPr/>
        </p:nvSpPr>
        <p:spPr>
          <a:xfrm>
            <a:off x="2153412" y="3840480"/>
            <a:ext cx="1444752" cy="685800"/>
          </a:xfrm>
          <a:prstGeom prst="rect">
            <a:avLst/>
          </a:prstGeom>
          <a:noFill/>
          <a:ln/>
        </p:spPr>
        <p:txBody>
          <a:bodyPr wrap="square" lIns="0" tIns="0" rIns="0" bIns="0" rtlCol="0" anchor="ctr"/>
          <a:lstStyle/>
          <a:p>
            <a:pPr algn="ctr" indent="0" marL="0">
              <a:buNone/>
            </a:pPr>
            <a:r>
              <a:rPr lang="en-US" sz="1400" b="1" dirty="0">
                <a:solidFill>
                  <a:srgbClr val="1F1630"/>
                </a:solidFill>
                <a:latin typeface="Calibri" pitchFamily="34" charset="0"/>
                <a:ea typeface="Calibri" pitchFamily="34" charset="-122"/>
                <a:cs typeface="Calibri" pitchFamily="34" charset="-120"/>
              </a:rPr>
              <a:t>Count 186 things</a:t>
            </a:r>
            <a:endParaRPr lang="en-US" sz="1400" dirty="0"/>
          </a:p>
        </p:txBody>
      </p:sp>
      <p:sp>
        <p:nvSpPr>
          <p:cNvPr id="11" name="Text 8"/>
          <p:cNvSpPr txBox="1"/>
          <p:nvPr/>
        </p:nvSpPr>
        <p:spPr>
          <a:xfrm>
            <a:off x="3598164" y="3840480"/>
            <a:ext cx="251460" cy="685800"/>
          </a:xfrm>
          <a:prstGeom prst="rect">
            <a:avLst/>
          </a:prstGeom>
          <a:noFill/>
          <a:ln/>
        </p:spPr>
        <p:txBody>
          <a:bodyPr wrap="square" lIns="0" tIns="0" rIns="0" bIns="0" rtlCol="0" anchor="ctr"/>
          <a:lstStyle/>
          <a:p>
            <a:pPr algn="ctr" indent="0" marL="0">
              <a:buNone/>
            </a:pPr>
            <a:r>
              <a:rPr lang="en-US" sz="1800" b="1" dirty="0">
                <a:solidFill>
                  <a:srgbClr val="F2A33A"/>
                </a:solidFill>
                <a:latin typeface="Calibri" pitchFamily="34" charset="0"/>
                <a:ea typeface="Calibri" pitchFamily="34" charset="-122"/>
                <a:cs typeface="Calibri" pitchFamily="34" charset="-120"/>
              </a:rPr>
              <a:t>&gt;</a:t>
            </a:r>
            <a:endParaRPr lang="en-US" sz="1800" dirty="0"/>
          </a:p>
        </p:txBody>
      </p:sp>
      <p:sp>
        <p:nvSpPr>
          <p:cNvPr id="12" name="flow 3"/>
          <p:cNvSpPr/>
          <p:nvPr/>
        </p:nvSpPr>
        <p:spPr>
          <a:xfrm>
            <a:off x="3849624" y="3840480"/>
            <a:ext cx="1444752" cy="685800"/>
          </a:xfrm>
          <a:prstGeom prst="roundRect">
            <a:avLst>
              <a:gd name="adj" fmla="val 10667"/>
            </a:avLst>
          </a:prstGeom>
          <a:solidFill>
            <a:srgbClr val="F1ECF8"/>
          </a:solidFill>
          <a:ln/>
        </p:spPr>
      </p:sp>
      <p:sp>
        <p:nvSpPr>
          <p:cNvPr id="13" name="Text 10"/>
          <p:cNvSpPr txBox="1"/>
          <p:nvPr/>
        </p:nvSpPr>
        <p:spPr>
          <a:xfrm>
            <a:off x="3849624" y="3840480"/>
            <a:ext cx="1444752" cy="685800"/>
          </a:xfrm>
          <a:prstGeom prst="rect">
            <a:avLst/>
          </a:prstGeom>
          <a:noFill/>
          <a:ln/>
        </p:spPr>
        <p:txBody>
          <a:bodyPr wrap="square" lIns="0" tIns="0" rIns="0" bIns="0" rtlCol="0" anchor="ctr"/>
          <a:lstStyle/>
          <a:p>
            <a:pPr algn="ctr" indent="0" marL="0">
              <a:buNone/>
            </a:pPr>
            <a:r>
              <a:rPr lang="en-US" sz="1400" b="1" dirty="0">
                <a:solidFill>
                  <a:srgbClr val="1F1630"/>
                </a:solidFill>
                <a:latin typeface="Calibri" pitchFamily="34" charset="0"/>
                <a:ea typeface="Calibri" pitchFamily="34" charset="-122"/>
                <a:cs typeface="Calibri" pitchFamily="34" charset="-120"/>
              </a:rPr>
              <a:t>186 numbers</a:t>
            </a:r>
            <a:endParaRPr lang="en-US" sz="1400" dirty="0"/>
          </a:p>
        </p:txBody>
      </p:sp>
      <p:sp>
        <p:nvSpPr>
          <p:cNvPr id="14" name="Text 11"/>
          <p:cNvSpPr txBox="1"/>
          <p:nvPr/>
        </p:nvSpPr>
        <p:spPr>
          <a:xfrm>
            <a:off x="5294376" y="3840480"/>
            <a:ext cx="251460" cy="685800"/>
          </a:xfrm>
          <a:prstGeom prst="rect">
            <a:avLst/>
          </a:prstGeom>
          <a:noFill/>
          <a:ln/>
        </p:spPr>
        <p:txBody>
          <a:bodyPr wrap="square" lIns="0" tIns="0" rIns="0" bIns="0" rtlCol="0" anchor="ctr"/>
          <a:lstStyle/>
          <a:p>
            <a:pPr algn="ctr" indent="0" marL="0">
              <a:buNone/>
            </a:pPr>
            <a:r>
              <a:rPr lang="en-US" sz="1800" b="1" dirty="0">
                <a:solidFill>
                  <a:srgbClr val="F2A33A"/>
                </a:solidFill>
                <a:latin typeface="Calibri" pitchFamily="34" charset="0"/>
                <a:ea typeface="Calibri" pitchFamily="34" charset="-122"/>
                <a:cs typeface="Calibri" pitchFamily="34" charset="-120"/>
              </a:rPr>
              <a:t>&gt;</a:t>
            </a:r>
            <a:endParaRPr lang="en-US" sz="1800" dirty="0"/>
          </a:p>
        </p:txBody>
      </p:sp>
      <p:sp>
        <p:nvSpPr>
          <p:cNvPr id="15" name="flow 4"/>
          <p:cNvSpPr/>
          <p:nvPr/>
        </p:nvSpPr>
        <p:spPr>
          <a:xfrm>
            <a:off x="5545836" y="3840480"/>
            <a:ext cx="1444752" cy="685800"/>
          </a:xfrm>
          <a:prstGeom prst="roundRect">
            <a:avLst>
              <a:gd name="adj" fmla="val 10667"/>
            </a:avLst>
          </a:prstGeom>
          <a:solidFill>
            <a:srgbClr val="F1ECF8"/>
          </a:solidFill>
          <a:ln/>
        </p:spPr>
      </p:sp>
      <p:sp>
        <p:nvSpPr>
          <p:cNvPr id="16" name="Text 13"/>
          <p:cNvSpPr txBox="1"/>
          <p:nvPr/>
        </p:nvSpPr>
        <p:spPr>
          <a:xfrm>
            <a:off x="5545836" y="3840480"/>
            <a:ext cx="1444752" cy="685800"/>
          </a:xfrm>
          <a:prstGeom prst="rect">
            <a:avLst/>
          </a:prstGeom>
          <a:noFill/>
          <a:ln/>
        </p:spPr>
        <p:txBody>
          <a:bodyPr wrap="square" lIns="0" tIns="0" rIns="0" bIns="0" rtlCol="0" anchor="ctr"/>
          <a:lstStyle/>
          <a:p>
            <a:pPr algn="ctr" indent="0" marL="0">
              <a:buNone/>
            </a:pPr>
            <a:r>
              <a:rPr lang="en-US" sz="1400" b="1" dirty="0">
                <a:solidFill>
                  <a:srgbClr val="1F1630"/>
                </a:solidFill>
                <a:latin typeface="Calibri" pitchFamily="34" charset="0"/>
                <a:ea typeface="Calibri" pitchFamily="34" charset="-122"/>
                <a:cs typeface="Calibri" pitchFamily="34" charset="-120"/>
              </a:rPr>
              <a:t>ML model</a:t>
            </a:r>
            <a:endParaRPr lang="en-US" sz="1400" dirty="0"/>
          </a:p>
        </p:txBody>
      </p:sp>
      <p:sp>
        <p:nvSpPr>
          <p:cNvPr id="17" name="Text 14"/>
          <p:cNvSpPr txBox="1"/>
          <p:nvPr/>
        </p:nvSpPr>
        <p:spPr>
          <a:xfrm>
            <a:off x="6990588" y="3840480"/>
            <a:ext cx="251460" cy="685800"/>
          </a:xfrm>
          <a:prstGeom prst="rect">
            <a:avLst/>
          </a:prstGeom>
          <a:noFill/>
          <a:ln/>
        </p:spPr>
        <p:txBody>
          <a:bodyPr wrap="square" lIns="0" tIns="0" rIns="0" bIns="0" rtlCol="0" anchor="ctr"/>
          <a:lstStyle/>
          <a:p>
            <a:pPr algn="ctr" indent="0" marL="0">
              <a:buNone/>
            </a:pPr>
            <a:r>
              <a:rPr lang="en-US" sz="1800" b="1" dirty="0">
                <a:solidFill>
                  <a:srgbClr val="F2A33A"/>
                </a:solidFill>
                <a:latin typeface="Calibri" pitchFamily="34" charset="0"/>
                <a:ea typeface="Calibri" pitchFamily="34" charset="-122"/>
                <a:cs typeface="Calibri" pitchFamily="34" charset="-120"/>
              </a:rPr>
              <a:t>&gt;</a:t>
            </a:r>
            <a:endParaRPr lang="en-US" sz="1800" dirty="0"/>
          </a:p>
        </p:txBody>
      </p:sp>
      <p:sp>
        <p:nvSpPr>
          <p:cNvPr id="18" name="flow 5"/>
          <p:cNvSpPr/>
          <p:nvPr/>
        </p:nvSpPr>
        <p:spPr>
          <a:xfrm>
            <a:off x="7242048" y="3840480"/>
            <a:ext cx="1444752" cy="685800"/>
          </a:xfrm>
          <a:prstGeom prst="roundRect">
            <a:avLst>
              <a:gd name="adj" fmla="val 10667"/>
            </a:avLst>
          </a:prstGeom>
          <a:solidFill>
            <a:srgbClr val="6B3FA0"/>
          </a:solidFill>
          <a:ln/>
        </p:spPr>
      </p:sp>
      <p:sp>
        <p:nvSpPr>
          <p:cNvPr id="19" name="Text 16"/>
          <p:cNvSpPr txBox="1"/>
          <p:nvPr/>
        </p:nvSpPr>
        <p:spPr>
          <a:xfrm>
            <a:off x="7242048" y="3840480"/>
            <a:ext cx="1444752"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Composer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Data: MAESTRO piano performances</a:t>
            </a:r>
            <a:endParaRPr lang="en-US" sz="2800" dirty="0"/>
          </a:p>
        </p:txBody>
      </p:sp>
      <p:sp>
        <p:nvSpPr>
          <p:cNvPr id="4" name="funnel 1"/>
          <p:cNvSpPr/>
          <p:nvPr/>
        </p:nvSpPr>
        <p:spPr>
          <a:xfrm>
            <a:off x="457200" y="1188720"/>
            <a:ext cx="3291840" cy="713232"/>
          </a:xfrm>
          <a:prstGeom prst="roundRect">
            <a:avLst>
              <a:gd name="adj" fmla="val 10256"/>
            </a:avLst>
          </a:prstGeom>
          <a:solidFill>
            <a:srgbClr val="F1ECF8"/>
          </a:solidFill>
          <a:ln/>
        </p:spPr>
      </p:sp>
      <p:sp>
        <p:nvSpPr>
          <p:cNvPr id="5" name="Text 2"/>
          <p:cNvSpPr txBox="1"/>
          <p:nvPr/>
        </p:nvSpPr>
        <p:spPr>
          <a:xfrm>
            <a:off x="594360" y="1225296"/>
            <a:ext cx="1005840" cy="640080"/>
          </a:xfrm>
          <a:prstGeom prst="rect">
            <a:avLst/>
          </a:prstGeom>
          <a:noFill/>
          <a:ln/>
        </p:spPr>
        <p:txBody>
          <a:bodyPr wrap="square" lIns="0" tIns="0" rIns="0" bIns="0" rtlCol="0" anchor="ctr"/>
          <a:lstStyle/>
          <a:p>
            <a:pPr indent="0" marL="0">
              <a:buNone/>
            </a:pPr>
            <a:r>
              <a:rPr lang="en-US" sz="2400" b="1" dirty="0">
                <a:solidFill>
                  <a:srgbClr val="6B3FA0"/>
                </a:solidFill>
                <a:latin typeface="Cambria" pitchFamily="34" charset="0"/>
                <a:ea typeface="Cambria" pitchFamily="34" charset="-122"/>
                <a:cs typeface="Cambria" pitchFamily="34" charset="-120"/>
              </a:rPr>
              <a:t>1,276</a:t>
            </a:r>
            <a:endParaRPr lang="en-US" sz="2400" dirty="0"/>
          </a:p>
        </p:txBody>
      </p:sp>
      <p:sp>
        <p:nvSpPr>
          <p:cNvPr id="6" name="Text 3"/>
          <p:cNvSpPr txBox="1"/>
          <p:nvPr/>
        </p:nvSpPr>
        <p:spPr>
          <a:xfrm>
            <a:off x="1645920" y="1225296"/>
            <a:ext cx="2011680" cy="640080"/>
          </a:xfrm>
          <a:prstGeom prst="rect">
            <a:avLst/>
          </a:prstGeom>
          <a:noFill/>
          <a:ln/>
        </p:spPr>
        <p:txBody>
          <a:bodyPr wrap="square" lIns="0" tIns="0" rIns="0" bIns="0" rtlCol="0" anchor="ctr"/>
          <a:lstStyle/>
          <a:p>
            <a:pPr indent="0" marL="0">
              <a:buNone/>
            </a:pPr>
            <a:r>
              <a:rPr lang="en-US" sz="1200" dirty="0">
                <a:solidFill>
                  <a:srgbClr val="1F1630"/>
                </a:solidFill>
                <a:latin typeface="Calibri" pitchFamily="34" charset="0"/>
                <a:ea typeface="Calibri" pitchFamily="34" charset="-122"/>
                <a:cs typeface="Calibri" pitchFamily="34" charset="-120"/>
              </a:rPr>
              <a:t>recordings; many pianists play the same piece</a:t>
            </a:r>
            <a:endParaRPr lang="en-US" sz="1200" dirty="0"/>
          </a:p>
        </p:txBody>
      </p:sp>
      <p:sp>
        <p:nvSpPr>
          <p:cNvPr id="7" name="funnel 2"/>
          <p:cNvSpPr/>
          <p:nvPr/>
        </p:nvSpPr>
        <p:spPr>
          <a:xfrm>
            <a:off x="457200" y="1993392"/>
            <a:ext cx="3291840" cy="713232"/>
          </a:xfrm>
          <a:prstGeom prst="roundRect">
            <a:avLst>
              <a:gd name="adj" fmla="val 10256"/>
            </a:avLst>
          </a:prstGeom>
          <a:solidFill>
            <a:srgbClr val="F1ECF8"/>
          </a:solidFill>
          <a:ln/>
        </p:spPr>
      </p:sp>
      <p:sp>
        <p:nvSpPr>
          <p:cNvPr id="8" name="Text 5"/>
          <p:cNvSpPr txBox="1"/>
          <p:nvPr/>
        </p:nvSpPr>
        <p:spPr>
          <a:xfrm>
            <a:off x="594360" y="2029968"/>
            <a:ext cx="1005840" cy="640080"/>
          </a:xfrm>
          <a:prstGeom prst="rect">
            <a:avLst/>
          </a:prstGeom>
          <a:noFill/>
          <a:ln/>
        </p:spPr>
        <p:txBody>
          <a:bodyPr wrap="square" lIns="0" tIns="0" rIns="0" bIns="0" rtlCol="0" anchor="ctr"/>
          <a:lstStyle/>
          <a:p>
            <a:pPr indent="0" marL="0">
              <a:buNone/>
            </a:pPr>
            <a:r>
              <a:rPr lang="en-US" sz="2400" b="1" dirty="0">
                <a:solidFill>
                  <a:srgbClr val="6B3FA0"/>
                </a:solidFill>
                <a:latin typeface="Cambria" pitchFamily="34" charset="0"/>
                <a:ea typeface="Cambria" pitchFamily="34" charset="-122"/>
                <a:cs typeface="Cambria" pitchFamily="34" charset="-120"/>
              </a:rPr>
              <a:t>785</a:t>
            </a:r>
            <a:endParaRPr lang="en-US" sz="2400" dirty="0"/>
          </a:p>
        </p:txBody>
      </p:sp>
      <p:sp>
        <p:nvSpPr>
          <p:cNvPr id="9" name="Text 6"/>
          <p:cNvSpPr txBox="1"/>
          <p:nvPr/>
        </p:nvSpPr>
        <p:spPr>
          <a:xfrm>
            <a:off x="1645920" y="2029968"/>
            <a:ext cx="2011680" cy="640080"/>
          </a:xfrm>
          <a:prstGeom prst="rect">
            <a:avLst/>
          </a:prstGeom>
          <a:noFill/>
          <a:ln/>
        </p:spPr>
        <p:txBody>
          <a:bodyPr wrap="square" lIns="0" tIns="0" rIns="0" bIns="0" rtlCol="0" anchor="ctr"/>
          <a:lstStyle/>
          <a:p>
            <a:pPr indent="0" marL="0">
              <a:buNone/>
            </a:pPr>
            <a:r>
              <a:rPr lang="en-US" sz="1200" dirty="0">
                <a:solidFill>
                  <a:srgbClr val="1F1630"/>
                </a:solidFill>
                <a:latin typeface="Calibri" pitchFamily="34" charset="0"/>
                <a:ea typeface="Calibri" pitchFamily="34" charset="-122"/>
                <a:cs typeface="Calibri" pitchFamily="34" charset="-120"/>
              </a:rPr>
              <a:t>unique pieces: one recording kept per piece</a:t>
            </a:r>
            <a:endParaRPr lang="en-US" sz="1200" dirty="0"/>
          </a:p>
        </p:txBody>
      </p:sp>
      <p:sp>
        <p:nvSpPr>
          <p:cNvPr id="10" name="funnel 3"/>
          <p:cNvSpPr/>
          <p:nvPr/>
        </p:nvSpPr>
        <p:spPr>
          <a:xfrm>
            <a:off x="457200" y="2798064"/>
            <a:ext cx="3291840" cy="713232"/>
          </a:xfrm>
          <a:prstGeom prst="roundRect">
            <a:avLst>
              <a:gd name="adj" fmla="val 10256"/>
            </a:avLst>
          </a:prstGeom>
          <a:solidFill>
            <a:srgbClr val="F1ECF8"/>
          </a:solidFill>
          <a:ln/>
        </p:spPr>
      </p:sp>
      <p:sp>
        <p:nvSpPr>
          <p:cNvPr id="11" name="Text 8"/>
          <p:cNvSpPr txBox="1"/>
          <p:nvPr/>
        </p:nvSpPr>
        <p:spPr>
          <a:xfrm>
            <a:off x="594360" y="2834640"/>
            <a:ext cx="1005840" cy="640080"/>
          </a:xfrm>
          <a:prstGeom prst="rect">
            <a:avLst/>
          </a:prstGeom>
          <a:noFill/>
          <a:ln/>
        </p:spPr>
        <p:txBody>
          <a:bodyPr wrap="square" lIns="0" tIns="0" rIns="0" bIns="0" rtlCol="0" anchor="ctr"/>
          <a:lstStyle/>
          <a:p>
            <a:pPr indent="0" marL="0">
              <a:buNone/>
            </a:pPr>
            <a:r>
              <a:rPr lang="en-US" sz="2400" b="1" dirty="0">
                <a:solidFill>
                  <a:srgbClr val="6B3FA0"/>
                </a:solidFill>
                <a:latin typeface="Cambria" pitchFamily="34" charset="0"/>
                <a:ea typeface="Cambria" pitchFamily="34" charset="-122"/>
                <a:cs typeface="Cambria" pitchFamily="34" charset="-120"/>
              </a:rPr>
              <a:t>725</a:t>
            </a:r>
            <a:endParaRPr lang="en-US" sz="2400" dirty="0"/>
          </a:p>
        </p:txBody>
      </p:sp>
      <p:sp>
        <p:nvSpPr>
          <p:cNvPr id="12" name="Text 9"/>
          <p:cNvSpPr txBox="1"/>
          <p:nvPr/>
        </p:nvSpPr>
        <p:spPr>
          <a:xfrm>
            <a:off x="1645920" y="2834640"/>
            <a:ext cx="2011680" cy="640080"/>
          </a:xfrm>
          <a:prstGeom prst="rect">
            <a:avLst/>
          </a:prstGeom>
          <a:noFill/>
          <a:ln/>
        </p:spPr>
        <p:txBody>
          <a:bodyPr wrap="square" lIns="0" tIns="0" rIns="0" bIns="0" rtlCol="0" anchor="ctr"/>
          <a:lstStyle/>
          <a:p>
            <a:pPr indent="0" marL="0">
              <a:buNone/>
            </a:pPr>
            <a:r>
              <a:rPr lang="en-US" sz="1200" dirty="0">
                <a:solidFill>
                  <a:srgbClr val="1F1630"/>
                </a:solidFill>
                <a:latin typeface="Calibri" pitchFamily="34" charset="0"/>
                <a:ea typeface="Calibri" pitchFamily="34" charset="-122"/>
                <a:cs typeface="Calibri" pitchFamily="34" charset="-120"/>
              </a:rPr>
              <a:t>pieces by 13 composers with 20+ pieces each</a:t>
            </a:r>
            <a:endParaRPr lang="en-US" sz="1200" dirty="0"/>
          </a:p>
        </p:txBody>
      </p:sp>
      <p:sp>
        <p:nvSpPr>
          <p:cNvPr id="13" name="Text 10"/>
          <p:cNvSpPr txBox="1"/>
          <p:nvPr/>
        </p:nvSpPr>
        <p:spPr>
          <a:xfrm>
            <a:off x="457200" y="3657600"/>
            <a:ext cx="3291840" cy="1097280"/>
          </a:xfrm>
          <a:prstGeom prst="rect">
            <a:avLst/>
          </a:prstGeom>
          <a:noFill/>
          <a:ln/>
        </p:spPr>
        <p:txBody>
          <a:bodyPr wrap="square" lIns="0" tIns="0" rIns="0" bIns="0" rtlCol="0" anchor="t"/>
          <a:lstStyle/>
          <a:p>
            <a:pPr indent="0" marL="0">
              <a:spcAft>
                <a:spcPts val="400"/>
              </a:spcAft>
              <a:buNone/>
            </a:pPr>
            <a:r>
              <a:rPr lang="en-US" sz="1400" b="1" dirty="0">
                <a:solidFill>
                  <a:srgbClr val="6B3FA0"/>
                </a:solidFill>
                <a:latin typeface="Calibri" pitchFamily="34" charset="0"/>
                <a:ea typeface="Calibri" pitchFamily="34" charset="-122"/>
                <a:cs typeface="Calibri" pitchFamily="34" charset="-120"/>
              </a:rPr>
              <a:t>Then split into three piles</a:t>
            </a:r>
            <a:endParaRPr lang="en-US" sz="1300" dirty="0"/>
          </a:p>
          <a:p>
            <a:pPr marL="342900" indent="-342900">
              <a:buSzPct val="100000"/>
              <a:buChar char="•"/>
            </a:pPr>
            <a:r>
              <a:rPr lang="en-US" sz="1300" dirty="0">
                <a:solidFill>
                  <a:srgbClr val="1F1630"/>
                </a:solidFill>
                <a:latin typeface="Calibri" pitchFamily="34" charset="0"/>
                <a:ea typeface="Calibri" pitchFamily="34" charset="-122"/>
                <a:cs typeface="Calibri" pitchFamily="34" charset="-120"/>
              </a:rPr>
              <a:t>435 to learn from (train)</a:t>
            </a:r>
            <a:endParaRPr lang="en-US" sz="1300" dirty="0"/>
          </a:p>
          <a:p>
            <a:pPr marL="342900" indent="-342900">
              <a:buSzPct val="100000"/>
              <a:buChar char="•"/>
            </a:pPr>
            <a:r>
              <a:rPr lang="en-US" sz="1300" dirty="0">
                <a:solidFill>
                  <a:srgbClr val="1F1630"/>
                </a:solidFill>
                <a:latin typeface="Calibri" pitchFamily="34" charset="0"/>
                <a:ea typeface="Calibri" pitchFamily="34" charset="-122"/>
                <a:cs typeface="Calibri" pitchFamily="34" charset="-120"/>
              </a:rPr>
              <a:t>145 to pick the best model (dev)</a:t>
            </a:r>
            <a:endParaRPr lang="en-US" sz="1300" dirty="0"/>
          </a:p>
          <a:p>
            <a:pPr marL="342900" indent="-342900">
              <a:buSzPct val="100000"/>
              <a:buChar char="•"/>
            </a:pPr>
            <a:r>
              <a:rPr lang="en-US" sz="1300" dirty="0">
                <a:solidFill>
                  <a:srgbClr val="1F1630"/>
                </a:solidFill>
                <a:latin typeface="Calibri" pitchFamily="34" charset="0"/>
                <a:ea typeface="Calibri" pitchFamily="34" charset="-122"/>
                <a:cs typeface="Calibri" pitchFamily="34" charset="-120"/>
              </a:rPr>
              <a:t>145 as the final exam (test)</a:t>
            </a:r>
            <a:endParaRPr lang="en-US" sz="1300" dirty="0"/>
          </a:p>
        </p:txBody>
      </p:sp>
      <p:graphicFrame>
        <p:nvGraphicFramePr>
          <p:cNvPr id="14" name="Chart 0" descr=""/>
          <p:cNvGraphicFramePr/>
          <p:nvPr/>
        </p:nvGraphicFramePr>
        <p:xfrm>
          <a:off x="4023360" y="1097280"/>
          <a:ext cx="4663440" cy="36576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Pipeline: from MIDI file to composer</a:t>
            </a:r>
            <a:endParaRPr lang="en-US" sz="2800" dirty="0"/>
          </a:p>
        </p:txBody>
      </p:sp>
      <p:sp>
        <p:nvSpPr>
          <p:cNvPr id="4" name="stage 1"/>
          <p:cNvSpPr/>
          <p:nvPr/>
        </p:nvSpPr>
        <p:spPr>
          <a:xfrm>
            <a:off x="457200" y="1600200"/>
            <a:ext cx="1463040" cy="2377440"/>
          </a:xfrm>
          <a:prstGeom prst="roundRect">
            <a:avLst>
              <a:gd name="adj" fmla="val 5000"/>
            </a:avLst>
          </a:prstGeom>
          <a:solidFill>
            <a:srgbClr val="F1ECF8"/>
          </a:solidFill>
          <a:ln/>
        </p:spPr>
      </p:sp>
      <p:sp>
        <p:nvSpPr>
          <p:cNvPr id="5" name="step badge 1"/>
          <p:cNvSpPr/>
          <p:nvPr/>
        </p:nvSpPr>
        <p:spPr>
          <a:xfrm>
            <a:off x="594360" y="1783080"/>
            <a:ext cx="411480" cy="411480"/>
          </a:xfrm>
          <a:prstGeom prst="ellipse">
            <a:avLst/>
          </a:prstGeom>
          <a:solidFill>
            <a:srgbClr val="6B3FA0"/>
          </a:solidFill>
          <a:ln/>
        </p:spPr>
      </p:sp>
      <p:sp>
        <p:nvSpPr>
          <p:cNvPr id="6" name="Text 3"/>
          <p:cNvSpPr txBox="1"/>
          <p:nvPr/>
        </p:nvSpPr>
        <p:spPr>
          <a:xfrm>
            <a:off x="594360"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txBox="1"/>
          <p:nvPr/>
        </p:nvSpPr>
        <p:spPr>
          <a:xfrm>
            <a:off x="594360" y="2377440"/>
            <a:ext cx="1188720" cy="640080"/>
          </a:xfrm>
          <a:prstGeom prst="rect">
            <a:avLst/>
          </a:prstGeom>
          <a:noFill/>
          <a:ln/>
        </p:spPr>
        <p:txBody>
          <a:bodyPr wrap="square" lIns="0" tIns="0" rIns="0" bIns="0" rtlCol="0" anchor="t"/>
          <a:lstStyle/>
          <a:p>
            <a:pPr indent="0" marL="0">
              <a:buNone/>
            </a:pPr>
            <a:r>
              <a:rPr lang="en-US" sz="1700" b="1" dirty="0">
                <a:solidFill>
                  <a:srgbClr val="1F1630"/>
                </a:solidFill>
                <a:latin typeface="Calibri" pitchFamily="34" charset="0"/>
                <a:ea typeface="Calibri" pitchFamily="34" charset="-122"/>
                <a:cs typeface="Calibri" pitchFamily="34" charset="-120"/>
              </a:rPr>
              <a:t>MIDI file</a:t>
            </a:r>
            <a:endParaRPr lang="en-US" sz="1700" dirty="0"/>
          </a:p>
        </p:txBody>
      </p:sp>
      <p:sp>
        <p:nvSpPr>
          <p:cNvPr id="8" name="Text 5"/>
          <p:cNvSpPr txBox="1"/>
          <p:nvPr/>
        </p:nvSpPr>
        <p:spPr>
          <a:xfrm>
            <a:off x="594360" y="3063240"/>
            <a:ext cx="1188720" cy="731520"/>
          </a:xfrm>
          <a:prstGeom prst="rect">
            <a:avLst/>
          </a:prstGeom>
          <a:noFill/>
          <a:ln/>
        </p:spPr>
        <p:txBody>
          <a:bodyPr wrap="square" lIns="0" tIns="0" rIns="0" bIns="0" rtlCol="0" anchor="t"/>
          <a:lstStyle/>
          <a:p>
            <a:pPr indent="0" marL="0">
              <a:buNone/>
            </a:pPr>
            <a:r>
              <a:rPr lang="en-US" sz="1400" dirty="0">
                <a:solidFill>
                  <a:srgbClr val="5B5470"/>
                </a:solidFill>
                <a:latin typeface="Calibri" pitchFamily="34" charset="0"/>
                <a:ea typeface="Calibri" pitchFamily="34" charset="-122"/>
                <a:cs typeface="Calibri" pitchFamily="34" charset="-120"/>
              </a:rPr>
              <a:t>list of notes</a:t>
            </a:r>
            <a:endParaRPr lang="en-US" sz="1400" dirty="0"/>
          </a:p>
        </p:txBody>
      </p:sp>
      <p:sp>
        <p:nvSpPr>
          <p:cNvPr id="9" name="Text 6"/>
          <p:cNvSpPr txBox="1"/>
          <p:nvPr/>
        </p:nvSpPr>
        <p:spPr>
          <a:xfrm>
            <a:off x="1920240" y="2560320"/>
            <a:ext cx="228600" cy="457200"/>
          </a:xfrm>
          <a:prstGeom prst="rect">
            <a:avLst/>
          </a:prstGeom>
          <a:noFill/>
          <a:ln/>
        </p:spPr>
        <p:txBody>
          <a:bodyPr wrap="square" lIns="0" tIns="0" rIns="0" bIns="0" rtlCol="0" anchor="ctr"/>
          <a:lstStyle/>
          <a:p>
            <a:pPr algn="ctr" indent="0" marL="0">
              <a:buNone/>
            </a:pPr>
            <a:r>
              <a:rPr lang="en-US" sz="2000" b="1" dirty="0">
                <a:solidFill>
                  <a:srgbClr val="F2A33A"/>
                </a:solidFill>
                <a:latin typeface="Calibri" pitchFamily="34" charset="0"/>
                <a:ea typeface="Calibri" pitchFamily="34" charset="-122"/>
                <a:cs typeface="Calibri" pitchFamily="34" charset="-120"/>
              </a:rPr>
              <a:t>&gt;</a:t>
            </a:r>
            <a:endParaRPr lang="en-US" sz="2000" dirty="0"/>
          </a:p>
        </p:txBody>
      </p:sp>
      <p:sp>
        <p:nvSpPr>
          <p:cNvPr id="10" name="stage 2"/>
          <p:cNvSpPr/>
          <p:nvPr/>
        </p:nvSpPr>
        <p:spPr>
          <a:xfrm>
            <a:off x="2148840" y="1600200"/>
            <a:ext cx="1463040" cy="2377440"/>
          </a:xfrm>
          <a:prstGeom prst="roundRect">
            <a:avLst>
              <a:gd name="adj" fmla="val 5000"/>
            </a:avLst>
          </a:prstGeom>
          <a:solidFill>
            <a:srgbClr val="F1ECF8"/>
          </a:solidFill>
          <a:ln/>
        </p:spPr>
      </p:sp>
      <p:sp>
        <p:nvSpPr>
          <p:cNvPr id="11" name="step badge 2"/>
          <p:cNvSpPr/>
          <p:nvPr/>
        </p:nvSpPr>
        <p:spPr>
          <a:xfrm>
            <a:off x="2286000" y="1783080"/>
            <a:ext cx="411480" cy="411480"/>
          </a:xfrm>
          <a:prstGeom prst="ellipse">
            <a:avLst/>
          </a:prstGeom>
          <a:solidFill>
            <a:srgbClr val="6B3FA0"/>
          </a:solidFill>
          <a:ln/>
        </p:spPr>
      </p:sp>
      <p:sp>
        <p:nvSpPr>
          <p:cNvPr id="12" name="Text 9"/>
          <p:cNvSpPr txBox="1"/>
          <p:nvPr/>
        </p:nvSpPr>
        <p:spPr>
          <a:xfrm>
            <a:off x="2286000"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2286000" y="2377440"/>
            <a:ext cx="1188720" cy="640080"/>
          </a:xfrm>
          <a:prstGeom prst="rect">
            <a:avLst/>
          </a:prstGeom>
          <a:noFill/>
          <a:ln/>
        </p:spPr>
        <p:txBody>
          <a:bodyPr wrap="square" lIns="0" tIns="0" rIns="0" bIns="0" rtlCol="0" anchor="t"/>
          <a:lstStyle/>
          <a:p>
            <a:pPr indent="0" marL="0">
              <a:buNone/>
            </a:pPr>
            <a:r>
              <a:rPr lang="en-US" sz="1700" b="1" dirty="0">
                <a:solidFill>
                  <a:srgbClr val="1F1630"/>
                </a:solidFill>
                <a:latin typeface="Calibri" pitchFamily="34" charset="0"/>
                <a:ea typeface="Calibri" pitchFamily="34" charset="-122"/>
                <a:cs typeface="Calibri" pitchFamily="34" charset="-120"/>
              </a:rPr>
              <a:t>186 features</a:t>
            </a:r>
            <a:endParaRPr lang="en-US" sz="1700" dirty="0"/>
          </a:p>
        </p:txBody>
      </p:sp>
      <p:sp>
        <p:nvSpPr>
          <p:cNvPr id="14" name="Text 11"/>
          <p:cNvSpPr txBox="1"/>
          <p:nvPr/>
        </p:nvSpPr>
        <p:spPr>
          <a:xfrm>
            <a:off x="2286000" y="3063240"/>
            <a:ext cx="1188720" cy="731520"/>
          </a:xfrm>
          <a:prstGeom prst="rect">
            <a:avLst/>
          </a:prstGeom>
          <a:noFill/>
          <a:ln/>
        </p:spPr>
        <p:txBody>
          <a:bodyPr wrap="square" lIns="0" tIns="0" rIns="0" bIns="0" rtlCol="0" anchor="t"/>
          <a:lstStyle/>
          <a:p>
            <a:pPr indent="0" marL="0">
              <a:buNone/>
            </a:pPr>
            <a:r>
              <a:rPr lang="en-US" sz="1400" dirty="0">
                <a:solidFill>
                  <a:srgbClr val="5B5470"/>
                </a:solidFill>
                <a:latin typeface="Calibri" pitchFamily="34" charset="0"/>
                <a:ea typeface="Calibri" pitchFamily="34" charset="-122"/>
                <a:cs typeface="Calibri" pitchFamily="34" charset="-120"/>
              </a:rPr>
              <a:t>style counts</a:t>
            </a:r>
            <a:endParaRPr lang="en-US" sz="1400" dirty="0"/>
          </a:p>
        </p:txBody>
      </p:sp>
      <p:sp>
        <p:nvSpPr>
          <p:cNvPr id="15" name="Text 12"/>
          <p:cNvSpPr txBox="1"/>
          <p:nvPr/>
        </p:nvSpPr>
        <p:spPr>
          <a:xfrm>
            <a:off x="3611880" y="2560320"/>
            <a:ext cx="228600" cy="457200"/>
          </a:xfrm>
          <a:prstGeom prst="rect">
            <a:avLst/>
          </a:prstGeom>
          <a:noFill/>
          <a:ln/>
        </p:spPr>
        <p:txBody>
          <a:bodyPr wrap="square" lIns="0" tIns="0" rIns="0" bIns="0" rtlCol="0" anchor="ctr"/>
          <a:lstStyle/>
          <a:p>
            <a:pPr algn="ctr" indent="0" marL="0">
              <a:buNone/>
            </a:pPr>
            <a:r>
              <a:rPr lang="en-US" sz="2000" b="1" dirty="0">
                <a:solidFill>
                  <a:srgbClr val="F2A33A"/>
                </a:solidFill>
                <a:latin typeface="Calibri" pitchFamily="34" charset="0"/>
                <a:ea typeface="Calibri" pitchFamily="34" charset="-122"/>
                <a:cs typeface="Calibri" pitchFamily="34" charset="-120"/>
              </a:rPr>
              <a:t>&gt;</a:t>
            </a:r>
            <a:endParaRPr lang="en-US" sz="2000" dirty="0"/>
          </a:p>
        </p:txBody>
      </p:sp>
      <p:sp>
        <p:nvSpPr>
          <p:cNvPr id="16" name="stage 3"/>
          <p:cNvSpPr/>
          <p:nvPr/>
        </p:nvSpPr>
        <p:spPr>
          <a:xfrm>
            <a:off x="3840480" y="1600200"/>
            <a:ext cx="1463040" cy="2377440"/>
          </a:xfrm>
          <a:prstGeom prst="roundRect">
            <a:avLst>
              <a:gd name="adj" fmla="val 5000"/>
            </a:avLst>
          </a:prstGeom>
          <a:solidFill>
            <a:srgbClr val="F1ECF8"/>
          </a:solidFill>
          <a:ln/>
        </p:spPr>
      </p:sp>
      <p:sp>
        <p:nvSpPr>
          <p:cNvPr id="17" name="step badge 3"/>
          <p:cNvSpPr/>
          <p:nvPr/>
        </p:nvSpPr>
        <p:spPr>
          <a:xfrm>
            <a:off x="3977640" y="1783080"/>
            <a:ext cx="411480" cy="411480"/>
          </a:xfrm>
          <a:prstGeom prst="ellipse">
            <a:avLst/>
          </a:prstGeom>
          <a:solidFill>
            <a:srgbClr val="6B3FA0"/>
          </a:solidFill>
          <a:ln/>
        </p:spPr>
      </p:sp>
      <p:sp>
        <p:nvSpPr>
          <p:cNvPr id="18" name="Text 15"/>
          <p:cNvSpPr txBox="1"/>
          <p:nvPr/>
        </p:nvSpPr>
        <p:spPr>
          <a:xfrm>
            <a:off x="3977640"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3977640" y="2377440"/>
            <a:ext cx="1188720" cy="640080"/>
          </a:xfrm>
          <a:prstGeom prst="rect">
            <a:avLst/>
          </a:prstGeom>
          <a:noFill/>
          <a:ln/>
        </p:spPr>
        <p:txBody>
          <a:bodyPr wrap="square" lIns="0" tIns="0" rIns="0" bIns="0" rtlCol="0" anchor="t"/>
          <a:lstStyle/>
          <a:p>
            <a:pPr indent="0" marL="0">
              <a:buNone/>
            </a:pPr>
            <a:r>
              <a:rPr lang="en-US" sz="1700" b="1" dirty="0">
                <a:solidFill>
                  <a:srgbClr val="1F1630"/>
                </a:solidFill>
                <a:latin typeface="Calibri" pitchFamily="34" charset="0"/>
                <a:ea typeface="Calibri" pitchFamily="34" charset="-122"/>
                <a:cs typeface="Calibri" pitchFamily="34" charset="-120"/>
              </a:rPr>
              <a:t>Split + scale</a:t>
            </a:r>
            <a:endParaRPr lang="en-US" sz="1700" dirty="0"/>
          </a:p>
        </p:txBody>
      </p:sp>
      <p:sp>
        <p:nvSpPr>
          <p:cNvPr id="20" name="Text 17"/>
          <p:cNvSpPr txBox="1"/>
          <p:nvPr/>
        </p:nvSpPr>
        <p:spPr>
          <a:xfrm>
            <a:off x="3977640" y="3063240"/>
            <a:ext cx="1188720" cy="731520"/>
          </a:xfrm>
          <a:prstGeom prst="rect">
            <a:avLst/>
          </a:prstGeom>
          <a:noFill/>
          <a:ln/>
        </p:spPr>
        <p:txBody>
          <a:bodyPr wrap="square" lIns="0" tIns="0" rIns="0" bIns="0" rtlCol="0" anchor="t"/>
          <a:lstStyle/>
          <a:p>
            <a:pPr indent="0" marL="0">
              <a:buNone/>
            </a:pPr>
            <a:r>
              <a:rPr lang="en-US" sz="1400" dirty="0">
                <a:solidFill>
                  <a:srgbClr val="5B5470"/>
                </a:solidFill>
                <a:latin typeface="Calibri" pitchFamily="34" charset="0"/>
                <a:ea typeface="Calibri" pitchFamily="34" charset="-122"/>
                <a:cs typeface="Calibri" pitchFamily="34" charset="-120"/>
              </a:rPr>
              <a:t>60/20/20, train-only scaler</a:t>
            </a:r>
            <a:endParaRPr lang="en-US" sz="1400" dirty="0"/>
          </a:p>
        </p:txBody>
      </p:sp>
      <p:sp>
        <p:nvSpPr>
          <p:cNvPr id="21" name="Text 18"/>
          <p:cNvSpPr txBox="1"/>
          <p:nvPr/>
        </p:nvSpPr>
        <p:spPr>
          <a:xfrm>
            <a:off x="5303520" y="2560320"/>
            <a:ext cx="228600" cy="457200"/>
          </a:xfrm>
          <a:prstGeom prst="rect">
            <a:avLst/>
          </a:prstGeom>
          <a:noFill/>
          <a:ln/>
        </p:spPr>
        <p:txBody>
          <a:bodyPr wrap="square" lIns="0" tIns="0" rIns="0" bIns="0" rtlCol="0" anchor="ctr"/>
          <a:lstStyle/>
          <a:p>
            <a:pPr algn="ctr" indent="0" marL="0">
              <a:buNone/>
            </a:pPr>
            <a:r>
              <a:rPr lang="en-US" sz="2000" b="1" dirty="0">
                <a:solidFill>
                  <a:srgbClr val="F2A33A"/>
                </a:solidFill>
                <a:latin typeface="Calibri" pitchFamily="34" charset="0"/>
                <a:ea typeface="Calibri" pitchFamily="34" charset="-122"/>
                <a:cs typeface="Calibri" pitchFamily="34" charset="-120"/>
              </a:rPr>
              <a:t>&gt;</a:t>
            </a:r>
            <a:endParaRPr lang="en-US" sz="2000" dirty="0"/>
          </a:p>
        </p:txBody>
      </p:sp>
      <p:sp>
        <p:nvSpPr>
          <p:cNvPr id="22" name="stage 4"/>
          <p:cNvSpPr/>
          <p:nvPr/>
        </p:nvSpPr>
        <p:spPr>
          <a:xfrm>
            <a:off x="5532120" y="1600200"/>
            <a:ext cx="1463040" cy="2377440"/>
          </a:xfrm>
          <a:prstGeom prst="roundRect">
            <a:avLst>
              <a:gd name="adj" fmla="val 5000"/>
            </a:avLst>
          </a:prstGeom>
          <a:solidFill>
            <a:srgbClr val="F1ECF8"/>
          </a:solidFill>
          <a:ln/>
        </p:spPr>
      </p:sp>
      <p:sp>
        <p:nvSpPr>
          <p:cNvPr id="23" name="step badge 4"/>
          <p:cNvSpPr/>
          <p:nvPr/>
        </p:nvSpPr>
        <p:spPr>
          <a:xfrm>
            <a:off x="5669280" y="1783080"/>
            <a:ext cx="411480" cy="411480"/>
          </a:xfrm>
          <a:prstGeom prst="ellipse">
            <a:avLst/>
          </a:prstGeom>
          <a:solidFill>
            <a:srgbClr val="6B3FA0"/>
          </a:solidFill>
          <a:ln/>
        </p:spPr>
      </p:sp>
      <p:sp>
        <p:nvSpPr>
          <p:cNvPr id="24" name="Text 21"/>
          <p:cNvSpPr txBox="1"/>
          <p:nvPr/>
        </p:nvSpPr>
        <p:spPr>
          <a:xfrm>
            <a:off x="5669280"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5669280" y="2377440"/>
            <a:ext cx="1188720" cy="640080"/>
          </a:xfrm>
          <a:prstGeom prst="rect">
            <a:avLst/>
          </a:prstGeom>
          <a:noFill/>
          <a:ln/>
        </p:spPr>
        <p:txBody>
          <a:bodyPr wrap="square" lIns="0" tIns="0" rIns="0" bIns="0" rtlCol="0" anchor="t"/>
          <a:lstStyle/>
          <a:p>
            <a:pPr indent="0" marL="0">
              <a:buNone/>
            </a:pPr>
            <a:r>
              <a:rPr lang="en-US" sz="1700" b="1" dirty="0">
                <a:solidFill>
                  <a:srgbClr val="1F1630"/>
                </a:solidFill>
                <a:latin typeface="Calibri" pitchFamily="34" charset="0"/>
                <a:ea typeface="Calibri" pitchFamily="34" charset="-122"/>
                <a:cs typeface="Calibri" pitchFamily="34" charset="-120"/>
              </a:rPr>
              <a:t>Six models</a:t>
            </a:r>
            <a:endParaRPr lang="en-US" sz="1700" dirty="0"/>
          </a:p>
        </p:txBody>
      </p:sp>
      <p:sp>
        <p:nvSpPr>
          <p:cNvPr id="26" name="Text 23"/>
          <p:cNvSpPr txBox="1"/>
          <p:nvPr/>
        </p:nvSpPr>
        <p:spPr>
          <a:xfrm>
            <a:off x="5669280" y="3063240"/>
            <a:ext cx="1188720" cy="731520"/>
          </a:xfrm>
          <a:prstGeom prst="rect">
            <a:avLst/>
          </a:prstGeom>
          <a:noFill/>
          <a:ln/>
        </p:spPr>
        <p:txBody>
          <a:bodyPr wrap="square" lIns="0" tIns="0" rIns="0" bIns="0" rtlCol="0" anchor="t"/>
          <a:lstStyle/>
          <a:p>
            <a:pPr indent="0" marL="0">
              <a:buNone/>
            </a:pPr>
            <a:r>
              <a:rPr lang="en-US" sz="1400" dirty="0">
                <a:solidFill>
                  <a:srgbClr val="5B5470"/>
                </a:solidFill>
                <a:latin typeface="Calibri" pitchFamily="34" charset="0"/>
                <a:ea typeface="Calibri" pitchFamily="34" charset="-122"/>
                <a:cs typeface="Calibri" pitchFamily="34" charset="-120"/>
              </a:rPr>
              <a:t>fit and compare</a:t>
            </a:r>
            <a:endParaRPr lang="en-US" sz="1400" dirty="0"/>
          </a:p>
        </p:txBody>
      </p:sp>
      <p:sp>
        <p:nvSpPr>
          <p:cNvPr id="27" name="Text 24"/>
          <p:cNvSpPr txBox="1"/>
          <p:nvPr/>
        </p:nvSpPr>
        <p:spPr>
          <a:xfrm>
            <a:off x="6995160" y="2560320"/>
            <a:ext cx="228600" cy="457200"/>
          </a:xfrm>
          <a:prstGeom prst="rect">
            <a:avLst/>
          </a:prstGeom>
          <a:noFill/>
          <a:ln/>
        </p:spPr>
        <p:txBody>
          <a:bodyPr wrap="square" lIns="0" tIns="0" rIns="0" bIns="0" rtlCol="0" anchor="ctr"/>
          <a:lstStyle/>
          <a:p>
            <a:pPr algn="ctr" indent="0" marL="0">
              <a:buNone/>
            </a:pPr>
            <a:r>
              <a:rPr lang="en-US" sz="2000" b="1" dirty="0">
                <a:solidFill>
                  <a:srgbClr val="F2A33A"/>
                </a:solidFill>
                <a:latin typeface="Calibri" pitchFamily="34" charset="0"/>
                <a:ea typeface="Calibri" pitchFamily="34" charset="-122"/>
                <a:cs typeface="Calibri" pitchFamily="34" charset="-120"/>
              </a:rPr>
              <a:t>&gt;</a:t>
            </a:r>
            <a:endParaRPr lang="en-US" sz="2000" dirty="0"/>
          </a:p>
        </p:txBody>
      </p:sp>
      <p:sp>
        <p:nvSpPr>
          <p:cNvPr id="28" name="stage 5"/>
          <p:cNvSpPr/>
          <p:nvPr/>
        </p:nvSpPr>
        <p:spPr>
          <a:xfrm>
            <a:off x="7223760" y="1600200"/>
            <a:ext cx="1463040" cy="2377440"/>
          </a:xfrm>
          <a:prstGeom prst="roundRect">
            <a:avLst>
              <a:gd name="adj" fmla="val 5000"/>
            </a:avLst>
          </a:prstGeom>
          <a:solidFill>
            <a:srgbClr val="F1ECF8"/>
          </a:solidFill>
          <a:ln/>
        </p:spPr>
      </p:sp>
      <p:sp>
        <p:nvSpPr>
          <p:cNvPr id="29" name="step badge 5"/>
          <p:cNvSpPr/>
          <p:nvPr/>
        </p:nvSpPr>
        <p:spPr>
          <a:xfrm>
            <a:off x="7360920" y="1783080"/>
            <a:ext cx="411480" cy="411480"/>
          </a:xfrm>
          <a:prstGeom prst="ellipse">
            <a:avLst/>
          </a:prstGeom>
          <a:solidFill>
            <a:srgbClr val="6B3FA0"/>
          </a:solidFill>
          <a:ln/>
        </p:spPr>
      </p:sp>
      <p:sp>
        <p:nvSpPr>
          <p:cNvPr id="30" name="Text 27"/>
          <p:cNvSpPr txBox="1"/>
          <p:nvPr/>
        </p:nvSpPr>
        <p:spPr>
          <a:xfrm>
            <a:off x="7360920" y="17830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8"/>
          <p:cNvSpPr txBox="1"/>
          <p:nvPr/>
        </p:nvSpPr>
        <p:spPr>
          <a:xfrm>
            <a:off x="7360920" y="2377440"/>
            <a:ext cx="1188720" cy="640080"/>
          </a:xfrm>
          <a:prstGeom prst="rect">
            <a:avLst/>
          </a:prstGeom>
          <a:noFill/>
          <a:ln/>
        </p:spPr>
        <p:txBody>
          <a:bodyPr wrap="square" lIns="0" tIns="0" rIns="0" bIns="0" rtlCol="0" anchor="t"/>
          <a:lstStyle/>
          <a:p>
            <a:pPr indent="0" marL="0">
              <a:buNone/>
            </a:pPr>
            <a:r>
              <a:rPr lang="en-US" sz="1700" b="1" dirty="0">
                <a:solidFill>
                  <a:srgbClr val="1F1630"/>
                </a:solidFill>
                <a:latin typeface="Calibri" pitchFamily="34" charset="0"/>
                <a:ea typeface="Calibri" pitchFamily="34" charset="-122"/>
                <a:cs typeface="Calibri" pitchFamily="34" charset="-120"/>
              </a:rPr>
              <a:t>Composer</a:t>
            </a:r>
            <a:endParaRPr lang="en-US" sz="1700" dirty="0"/>
          </a:p>
        </p:txBody>
      </p:sp>
      <p:sp>
        <p:nvSpPr>
          <p:cNvPr id="32" name="Text 29"/>
          <p:cNvSpPr txBox="1"/>
          <p:nvPr/>
        </p:nvSpPr>
        <p:spPr>
          <a:xfrm>
            <a:off x="7360920" y="3063240"/>
            <a:ext cx="1188720" cy="731520"/>
          </a:xfrm>
          <a:prstGeom prst="rect">
            <a:avLst/>
          </a:prstGeom>
          <a:noFill/>
          <a:ln/>
        </p:spPr>
        <p:txBody>
          <a:bodyPr wrap="square" lIns="0" tIns="0" rIns="0" bIns="0" rtlCol="0" anchor="t"/>
          <a:lstStyle/>
          <a:p>
            <a:pPr indent="0" marL="0">
              <a:buNone/>
            </a:pPr>
            <a:r>
              <a:rPr lang="en-US" sz="1400" dirty="0">
                <a:solidFill>
                  <a:srgbClr val="5B5470"/>
                </a:solidFill>
                <a:latin typeface="Calibri" pitchFamily="34" charset="0"/>
                <a:ea typeface="Calibri" pitchFamily="34" charset="-122"/>
                <a:cs typeface="Calibri" pitchFamily="34" charset="-120"/>
              </a:rPr>
              <a:t>top-5 guesses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186 features in six families</a:t>
            </a:r>
            <a:endParaRPr lang="en-US" sz="2800" dirty="0"/>
          </a:p>
        </p:txBody>
      </p:sp>
      <p:sp>
        <p:nvSpPr>
          <p:cNvPr id="4" name="family Pitch"/>
          <p:cNvSpPr/>
          <p:nvPr/>
        </p:nvSpPr>
        <p:spPr>
          <a:xfrm>
            <a:off x="457200" y="1280160"/>
            <a:ext cx="2606040" cy="1554480"/>
          </a:xfrm>
          <a:prstGeom prst="roundRect">
            <a:avLst>
              <a:gd name="adj" fmla="val 4706"/>
            </a:avLst>
          </a:prstGeom>
          <a:solidFill>
            <a:srgbClr val="F1ECF8"/>
          </a:solidFill>
          <a:ln/>
        </p:spPr>
      </p:sp>
      <p:sp>
        <p:nvSpPr>
          <p:cNvPr id="5" name="Text 2"/>
          <p:cNvSpPr txBox="1"/>
          <p:nvPr/>
        </p:nvSpPr>
        <p:spPr>
          <a:xfrm>
            <a:off x="640080" y="1389888"/>
            <a:ext cx="1097280" cy="594360"/>
          </a:xfrm>
          <a:prstGeom prst="rect">
            <a:avLst/>
          </a:prstGeom>
          <a:noFill/>
          <a:ln/>
        </p:spPr>
        <p:txBody>
          <a:bodyPr wrap="square" lIns="0" tIns="0" rIns="0" bIns="0" rtlCol="0" anchor="ctr"/>
          <a:lstStyle/>
          <a:p>
            <a:pPr indent="0" marL="0">
              <a:buNone/>
            </a:pPr>
            <a:r>
              <a:rPr lang="en-US" sz="3200" b="1" dirty="0">
                <a:solidFill>
                  <a:srgbClr val="6B3FA0"/>
                </a:solidFill>
                <a:latin typeface="Cambria" pitchFamily="34" charset="0"/>
                <a:ea typeface="Cambria" pitchFamily="34" charset="-122"/>
                <a:cs typeface="Cambria" pitchFamily="34" charset="-120"/>
              </a:rPr>
              <a:t>64</a:t>
            </a:r>
            <a:endParaRPr lang="en-US" sz="3200" dirty="0"/>
          </a:p>
        </p:txBody>
      </p:sp>
      <p:sp>
        <p:nvSpPr>
          <p:cNvPr id="6" name="Text 3"/>
          <p:cNvSpPr txBox="1"/>
          <p:nvPr/>
        </p:nvSpPr>
        <p:spPr>
          <a:xfrm>
            <a:off x="640080" y="2011680"/>
            <a:ext cx="2286000" cy="32004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Pitch</a:t>
            </a:r>
            <a:endParaRPr lang="en-US" sz="1600" dirty="0"/>
          </a:p>
        </p:txBody>
      </p:sp>
      <p:sp>
        <p:nvSpPr>
          <p:cNvPr id="7" name="Text 4"/>
          <p:cNvSpPr txBox="1"/>
          <p:nvPr/>
        </p:nvSpPr>
        <p:spPr>
          <a:xfrm>
            <a:off x="640080" y="2331720"/>
            <a:ext cx="2286000" cy="41148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which notes and key; range</a:t>
            </a:r>
            <a:endParaRPr lang="en-US" sz="1300" dirty="0"/>
          </a:p>
        </p:txBody>
      </p:sp>
      <p:sp>
        <p:nvSpPr>
          <p:cNvPr id="8" name="family Melodic intervals"/>
          <p:cNvSpPr/>
          <p:nvPr/>
        </p:nvSpPr>
        <p:spPr>
          <a:xfrm>
            <a:off x="3246120" y="1280160"/>
            <a:ext cx="2606040" cy="1554480"/>
          </a:xfrm>
          <a:prstGeom prst="roundRect">
            <a:avLst>
              <a:gd name="adj" fmla="val 4706"/>
            </a:avLst>
          </a:prstGeom>
          <a:solidFill>
            <a:srgbClr val="F1ECF8"/>
          </a:solidFill>
          <a:ln/>
        </p:spPr>
      </p:sp>
      <p:sp>
        <p:nvSpPr>
          <p:cNvPr id="9" name="Text 6"/>
          <p:cNvSpPr txBox="1"/>
          <p:nvPr/>
        </p:nvSpPr>
        <p:spPr>
          <a:xfrm>
            <a:off x="3429000" y="1389888"/>
            <a:ext cx="1097280" cy="594360"/>
          </a:xfrm>
          <a:prstGeom prst="rect">
            <a:avLst/>
          </a:prstGeom>
          <a:noFill/>
          <a:ln/>
        </p:spPr>
        <p:txBody>
          <a:bodyPr wrap="square" lIns="0" tIns="0" rIns="0" bIns="0" rtlCol="0" anchor="ctr"/>
          <a:lstStyle/>
          <a:p>
            <a:pPr indent="0" marL="0">
              <a:buNone/>
            </a:pPr>
            <a:r>
              <a:rPr lang="en-US" sz="3200" b="1" dirty="0">
                <a:solidFill>
                  <a:srgbClr val="6B3FA0"/>
                </a:solidFill>
                <a:latin typeface="Cambria" pitchFamily="34" charset="0"/>
                <a:ea typeface="Cambria" pitchFamily="34" charset="-122"/>
                <a:cs typeface="Cambria" pitchFamily="34" charset="-120"/>
              </a:rPr>
              <a:t>35</a:t>
            </a:r>
            <a:endParaRPr lang="en-US" sz="3200" dirty="0"/>
          </a:p>
        </p:txBody>
      </p:sp>
      <p:sp>
        <p:nvSpPr>
          <p:cNvPr id="10" name="Text 7"/>
          <p:cNvSpPr txBox="1"/>
          <p:nvPr/>
        </p:nvSpPr>
        <p:spPr>
          <a:xfrm>
            <a:off x="3429000" y="2011680"/>
            <a:ext cx="2286000" cy="32004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Melodic intervals</a:t>
            </a:r>
            <a:endParaRPr lang="en-US" sz="1600" dirty="0"/>
          </a:p>
        </p:txBody>
      </p:sp>
      <p:sp>
        <p:nvSpPr>
          <p:cNvPr id="11" name="Text 8"/>
          <p:cNvSpPr txBox="1"/>
          <p:nvPr/>
        </p:nvSpPr>
        <p:spPr>
          <a:xfrm>
            <a:off x="3429000" y="2331720"/>
            <a:ext cx="2286000" cy="41148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steps, leaps, direction</a:t>
            </a:r>
            <a:endParaRPr lang="en-US" sz="1300" dirty="0"/>
          </a:p>
        </p:txBody>
      </p:sp>
      <p:sp>
        <p:nvSpPr>
          <p:cNvPr id="12" name="family Vertical intervals"/>
          <p:cNvSpPr/>
          <p:nvPr/>
        </p:nvSpPr>
        <p:spPr>
          <a:xfrm>
            <a:off x="6035040" y="1280160"/>
            <a:ext cx="2606040" cy="1554480"/>
          </a:xfrm>
          <a:prstGeom prst="roundRect">
            <a:avLst>
              <a:gd name="adj" fmla="val 4706"/>
            </a:avLst>
          </a:prstGeom>
          <a:solidFill>
            <a:srgbClr val="F1ECF8"/>
          </a:solidFill>
          <a:ln/>
        </p:spPr>
      </p:sp>
      <p:sp>
        <p:nvSpPr>
          <p:cNvPr id="13" name="Text 10"/>
          <p:cNvSpPr txBox="1"/>
          <p:nvPr/>
        </p:nvSpPr>
        <p:spPr>
          <a:xfrm>
            <a:off x="6217920" y="1389888"/>
            <a:ext cx="1097280" cy="594360"/>
          </a:xfrm>
          <a:prstGeom prst="rect">
            <a:avLst/>
          </a:prstGeom>
          <a:noFill/>
          <a:ln/>
        </p:spPr>
        <p:txBody>
          <a:bodyPr wrap="square" lIns="0" tIns="0" rIns="0" bIns="0" rtlCol="0" anchor="ctr"/>
          <a:lstStyle/>
          <a:p>
            <a:pPr indent="0" marL="0">
              <a:buNone/>
            </a:pPr>
            <a:r>
              <a:rPr lang="en-US" sz="3200" b="1" dirty="0">
                <a:solidFill>
                  <a:srgbClr val="6B3FA0"/>
                </a:solidFill>
                <a:latin typeface="Cambria" pitchFamily="34" charset="0"/>
                <a:ea typeface="Cambria" pitchFamily="34" charset="-122"/>
                <a:cs typeface="Cambria" pitchFamily="34" charset="-120"/>
              </a:rPr>
              <a:t>19</a:t>
            </a:r>
            <a:endParaRPr lang="en-US" sz="3200" dirty="0"/>
          </a:p>
        </p:txBody>
      </p:sp>
      <p:sp>
        <p:nvSpPr>
          <p:cNvPr id="14" name="Text 11"/>
          <p:cNvSpPr txBox="1"/>
          <p:nvPr/>
        </p:nvSpPr>
        <p:spPr>
          <a:xfrm>
            <a:off x="6217920" y="2011680"/>
            <a:ext cx="2286000" cy="32004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Vertical intervals</a:t>
            </a:r>
            <a:endParaRPr lang="en-US" sz="1600" dirty="0"/>
          </a:p>
        </p:txBody>
      </p:sp>
      <p:sp>
        <p:nvSpPr>
          <p:cNvPr id="15" name="Text 12"/>
          <p:cNvSpPr txBox="1"/>
          <p:nvPr/>
        </p:nvSpPr>
        <p:spPr>
          <a:xfrm>
            <a:off x="6217920" y="2331720"/>
            <a:ext cx="2286000" cy="41148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chords, dissonance, parallel fifths</a:t>
            </a:r>
            <a:endParaRPr lang="en-US" sz="1300" dirty="0"/>
          </a:p>
        </p:txBody>
      </p:sp>
      <p:sp>
        <p:nvSpPr>
          <p:cNvPr id="16" name="family Rhythm"/>
          <p:cNvSpPr/>
          <p:nvPr/>
        </p:nvSpPr>
        <p:spPr>
          <a:xfrm>
            <a:off x="457200" y="3017520"/>
            <a:ext cx="2606040" cy="1554480"/>
          </a:xfrm>
          <a:prstGeom prst="roundRect">
            <a:avLst>
              <a:gd name="adj" fmla="val 4706"/>
            </a:avLst>
          </a:prstGeom>
          <a:solidFill>
            <a:srgbClr val="F1ECF8"/>
          </a:solidFill>
          <a:ln/>
        </p:spPr>
      </p:sp>
      <p:sp>
        <p:nvSpPr>
          <p:cNvPr id="17" name="Text 14"/>
          <p:cNvSpPr txBox="1"/>
          <p:nvPr/>
        </p:nvSpPr>
        <p:spPr>
          <a:xfrm>
            <a:off x="640080" y="3127248"/>
            <a:ext cx="1097280" cy="594360"/>
          </a:xfrm>
          <a:prstGeom prst="rect">
            <a:avLst/>
          </a:prstGeom>
          <a:noFill/>
          <a:ln/>
        </p:spPr>
        <p:txBody>
          <a:bodyPr wrap="square" lIns="0" tIns="0" rIns="0" bIns="0" rtlCol="0" anchor="ctr"/>
          <a:lstStyle/>
          <a:p>
            <a:pPr indent="0" marL="0">
              <a:buNone/>
            </a:pPr>
            <a:r>
              <a:rPr lang="en-US" sz="3200" b="1" dirty="0">
                <a:solidFill>
                  <a:srgbClr val="6B3FA0"/>
                </a:solidFill>
                <a:latin typeface="Cambria" pitchFamily="34" charset="0"/>
                <a:ea typeface="Cambria" pitchFamily="34" charset="-122"/>
                <a:cs typeface="Cambria" pitchFamily="34" charset="-120"/>
              </a:rPr>
              <a:t>34</a:t>
            </a:r>
            <a:endParaRPr lang="en-US" sz="3200" dirty="0"/>
          </a:p>
        </p:txBody>
      </p:sp>
      <p:sp>
        <p:nvSpPr>
          <p:cNvPr id="18" name="Text 15"/>
          <p:cNvSpPr txBox="1"/>
          <p:nvPr/>
        </p:nvSpPr>
        <p:spPr>
          <a:xfrm>
            <a:off x="640080" y="3749040"/>
            <a:ext cx="2286000" cy="32004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Rhythm</a:t>
            </a:r>
            <a:endParaRPr lang="en-US" sz="1600" dirty="0"/>
          </a:p>
        </p:txBody>
      </p:sp>
      <p:sp>
        <p:nvSpPr>
          <p:cNvPr id="19" name="Text 16"/>
          <p:cNvSpPr txBox="1"/>
          <p:nvPr/>
        </p:nvSpPr>
        <p:spPr>
          <a:xfrm>
            <a:off x="640080" y="4069080"/>
            <a:ext cx="2286000" cy="41148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note lengths, density, tempo</a:t>
            </a:r>
            <a:endParaRPr lang="en-US" sz="1300" dirty="0"/>
          </a:p>
        </p:txBody>
      </p:sp>
      <p:sp>
        <p:nvSpPr>
          <p:cNvPr id="20" name="family Dynamics"/>
          <p:cNvSpPr/>
          <p:nvPr/>
        </p:nvSpPr>
        <p:spPr>
          <a:xfrm>
            <a:off x="3246120" y="3017520"/>
            <a:ext cx="2606040" cy="1554480"/>
          </a:xfrm>
          <a:prstGeom prst="roundRect">
            <a:avLst>
              <a:gd name="adj" fmla="val 4706"/>
            </a:avLst>
          </a:prstGeom>
          <a:solidFill>
            <a:srgbClr val="F1ECF8"/>
          </a:solidFill>
          <a:ln/>
        </p:spPr>
      </p:sp>
      <p:sp>
        <p:nvSpPr>
          <p:cNvPr id="21" name="Text 18"/>
          <p:cNvSpPr txBox="1"/>
          <p:nvPr/>
        </p:nvSpPr>
        <p:spPr>
          <a:xfrm>
            <a:off x="3429000" y="3127248"/>
            <a:ext cx="1097280" cy="594360"/>
          </a:xfrm>
          <a:prstGeom prst="rect">
            <a:avLst/>
          </a:prstGeom>
          <a:noFill/>
          <a:ln/>
        </p:spPr>
        <p:txBody>
          <a:bodyPr wrap="square" lIns="0" tIns="0" rIns="0" bIns="0" rtlCol="0" anchor="ctr"/>
          <a:lstStyle/>
          <a:p>
            <a:pPr indent="0" marL="0">
              <a:buNone/>
            </a:pPr>
            <a:r>
              <a:rPr lang="en-US" sz="3200" b="1" dirty="0">
                <a:solidFill>
                  <a:srgbClr val="6B3FA0"/>
                </a:solidFill>
                <a:latin typeface="Cambria" pitchFamily="34" charset="0"/>
                <a:ea typeface="Cambria" pitchFamily="34" charset="-122"/>
                <a:cs typeface="Cambria" pitchFamily="34" charset="-120"/>
              </a:rPr>
              <a:t>8</a:t>
            </a:r>
            <a:endParaRPr lang="en-US" sz="3200" dirty="0"/>
          </a:p>
        </p:txBody>
      </p:sp>
      <p:sp>
        <p:nvSpPr>
          <p:cNvPr id="22" name="Text 19"/>
          <p:cNvSpPr txBox="1"/>
          <p:nvPr/>
        </p:nvSpPr>
        <p:spPr>
          <a:xfrm>
            <a:off x="3429000" y="3749040"/>
            <a:ext cx="2286000" cy="32004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Dynamics</a:t>
            </a:r>
            <a:endParaRPr lang="en-US" sz="1600" dirty="0"/>
          </a:p>
        </p:txBody>
      </p:sp>
      <p:sp>
        <p:nvSpPr>
          <p:cNvPr id="23" name="Text 20"/>
          <p:cNvSpPr txBox="1"/>
          <p:nvPr/>
        </p:nvSpPr>
        <p:spPr>
          <a:xfrm>
            <a:off x="3429000" y="4069080"/>
            <a:ext cx="2286000" cy="41148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loudness and its variation</a:t>
            </a:r>
            <a:endParaRPr lang="en-US" sz="1300" dirty="0"/>
          </a:p>
        </p:txBody>
      </p:sp>
      <p:sp>
        <p:nvSpPr>
          <p:cNvPr id="24" name="family Texture"/>
          <p:cNvSpPr/>
          <p:nvPr/>
        </p:nvSpPr>
        <p:spPr>
          <a:xfrm>
            <a:off x="6035040" y="3017520"/>
            <a:ext cx="2606040" cy="1554480"/>
          </a:xfrm>
          <a:prstGeom prst="roundRect">
            <a:avLst>
              <a:gd name="adj" fmla="val 4706"/>
            </a:avLst>
          </a:prstGeom>
          <a:solidFill>
            <a:srgbClr val="F1ECF8"/>
          </a:solidFill>
          <a:ln/>
        </p:spPr>
      </p:sp>
      <p:sp>
        <p:nvSpPr>
          <p:cNvPr id="25" name="Text 22"/>
          <p:cNvSpPr txBox="1"/>
          <p:nvPr/>
        </p:nvSpPr>
        <p:spPr>
          <a:xfrm>
            <a:off x="6217920" y="3127248"/>
            <a:ext cx="1097280" cy="594360"/>
          </a:xfrm>
          <a:prstGeom prst="rect">
            <a:avLst/>
          </a:prstGeom>
          <a:noFill/>
          <a:ln/>
        </p:spPr>
        <p:txBody>
          <a:bodyPr wrap="square" lIns="0" tIns="0" rIns="0" bIns="0" rtlCol="0" anchor="ctr"/>
          <a:lstStyle/>
          <a:p>
            <a:pPr indent="0" marL="0">
              <a:buNone/>
            </a:pPr>
            <a:r>
              <a:rPr lang="en-US" sz="3200" b="1" dirty="0">
                <a:solidFill>
                  <a:srgbClr val="6B3FA0"/>
                </a:solidFill>
                <a:latin typeface="Cambria" pitchFamily="34" charset="0"/>
                <a:ea typeface="Cambria" pitchFamily="34" charset="-122"/>
                <a:cs typeface="Cambria" pitchFamily="34" charset="-120"/>
              </a:rPr>
              <a:t>26</a:t>
            </a:r>
            <a:endParaRPr lang="en-US" sz="3200" dirty="0"/>
          </a:p>
        </p:txBody>
      </p:sp>
      <p:sp>
        <p:nvSpPr>
          <p:cNvPr id="26" name="Text 23"/>
          <p:cNvSpPr txBox="1"/>
          <p:nvPr/>
        </p:nvSpPr>
        <p:spPr>
          <a:xfrm>
            <a:off x="6217920" y="3749040"/>
            <a:ext cx="2286000" cy="32004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Texture</a:t>
            </a:r>
            <a:endParaRPr lang="en-US" sz="1600" dirty="0"/>
          </a:p>
        </p:txBody>
      </p:sp>
      <p:sp>
        <p:nvSpPr>
          <p:cNvPr id="27" name="Text 24"/>
          <p:cNvSpPr txBox="1"/>
          <p:nvPr/>
        </p:nvSpPr>
        <p:spPr>
          <a:xfrm>
            <a:off x="6217920" y="4069080"/>
            <a:ext cx="2286000" cy="41148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voices at once, instruments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Six models, one job</a:t>
            </a:r>
            <a:endParaRPr lang="en-US" sz="2800" dirty="0"/>
          </a:p>
        </p:txBody>
      </p:sp>
      <p:sp>
        <p:nvSpPr>
          <p:cNvPr id="4" name="model Softmax regression"/>
          <p:cNvSpPr/>
          <p:nvPr/>
        </p:nvSpPr>
        <p:spPr>
          <a:xfrm>
            <a:off x="457200" y="1188720"/>
            <a:ext cx="2606040" cy="1645920"/>
          </a:xfrm>
          <a:prstGeom prst="roundRect">
            <a:avLst>
              <a:gd name="adj" fmla="val 4444"/>
            </a:avLst>
          </a:prstGeom>
          <a:solidFill>
            <a:srgbClr val="F1ECF8"/>
          </a:solidFill>
          <a:ln/>
        </p:spPr>
      </p:sp>
      <p:sp>
        <p:nvSpPr>
          <p:cNvPr id="5" name="Text 2"/>
          <p:cNvSpPr txBox="1"/>
          <p:nvPr/>
        </p:nvSpPr>
        <p:spPr>
          <a:xfrm>
            <a:off x="640080" y="1298448"/>
            <a:ext cx="2286000" cy="36576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Softmax regression</a:t>
            </a:r>
            <a:endParaRPr lang="en-US" sz="1600" dirty="0"/>
          </a:p>
        </p:txBody>
      </p:sp>
      <p:sp>
        <p:nvSpPr>
          <p:cNvPr id="6" name="Text 3"/>
          <p:cNvSpPr txBox="1"/>
          <p:nvPr/>
        </p:nvSpPr>
        <p:spPr>
          <a:xfrm>
            <a:off x="640080" y="1719072"/>
            <a:ext cx="2286000" cy="105156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Weights each feature, sums them into a score per composer and picks the highest. Straight-line boundaries only.</a:t>
            </a:r>
            <a:endParaRPr lang="en-US" sz="1300" dirty="0"/>
          </a:p>
        </p:txBody>
      </p:sp>
      <p:sp>
        <p:nvSpPr>
          <p:cNvPr id="7" name="model SVM (RBF kernel)"/>
          <p:cNvSpPr/>
          <p:nvPr/>
        </p:nvSpPr>
        <p:spPr>
          <a:xfrm>
            <a:off x="3246120" y="1188720"/>
            <a:ext cx="2606040" cy="1645920"/>
          </a:xfrm>
          <a:prstGeom prst="roundRect">
            <a:avLst>
              <a:gd name="adj" fmla="val 4444"/>
            </a:avLst>
          </a:prstGeom>
          <a:solidFill>
            <a:srgbClr val="F1ECF8"/>
          </a:solidFill>
          <a:ln/>
        </p:spPr>
      </p:sp>
      <p:sp>
        <p:nvSpPr>
          <p:cNvPr id="8" name="Text 5"/>
          <p:cNvSpPr txBox="1"/>
          <p:nvPr/>
        </p:nvSpPr>
        <p:spPr>
          <a:xfrm>
            <a:off x="3429000" y="1298448"/>
            <a:ext cx="2286000" cy="36576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SVM (RBF kernel)</a:t>
            </a:r>
            <a:endParaRPr lang="en-US" sz="1600" dirty="0"/>
          </a:p>
        </p:txBody>
      </p:sp>
      <p:sp>
        <p:nvSpPr>
          <p:cNvPr id="9" name="Text 6"/>
          <p:cNvSpPr txBox="1"/>
          <p:nvPr/>
        </p:nvSpPr>
        <p:spPr>
          <a:xfrm>
            <a:off x="3429000" y="1719072"/>
            <a:ext cx="2286000" cy="105156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Finds the boundary with the widest empty gap between composers; a kernel lets it curve around clusters.</a:t>
            </a:r>
            <a:endParaRPr lang="en-US" sz="1300" dirty="0"/>
          </a:p>
        </p:txBody>
      </p:sp>
      <p:sp>
        <p:nvSpPr>
          <p:cNvPr id="10" name="model LDA"/>
          <p:cNvSpPr/>
          <p:nvPr/>
        </p:nvSpPr>
        <p:spPr>
          <a:xfrm>
            <a:off x="6035040" y="1188720"/>
            <a:ext cx="2606040" cy="1645920"/>
          </a:xfrm>
          <a:prstGeom prst="roundRect">
            <a:avLst>
              <a:gd name="adj" fmla="val 4444"/>
            </a:avLst>
          </a:prstGeom>
          <a:solidFill>
            <a:srgbClr val="F1ECF8"/>
          </a:solidFill>
          <a:ln/>
        </p:spPr>
      </p:sp>
      <p:sp>
        <p:nvSpPr>
          <p:cNvPr id="11" name="Text 8"/>
          <p:cNvSpPr txBox="1"/>
          <p:nvPr/>
        </p:nvSpPr>
        <p:spPr>
          <a:xfrm>
            <a:off x="6217920" y="1298448"/>
            <a:ext cx="2286000" cy="36576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LDA</a:t>
            </a:r>
            <a:endParaRPr lang="en-US" sz="1600" dirty="0"/>
          </a:p>
        </p:txBody>
      </p:sp>
      <p:sp>
        <p:nvSpPr>
          <p:cNvPr id="12" name="Text 9"/>
          <p:cNvSpPr txBox="1"/>
          <p:nvPr/>
        </p:nvSpPr>
        <p:spPr>
          <a:xfrm>
            <a:off x="6217920" y="1719072"/>
            <a:ext cx="2286000" cy="105156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Treats each composer's pieces as a bell-shaped cloud and assigns a piece to the nearest cloud.</a:t>
            </a:r>
            <a:endParaRPr lang="en-US" sz="1300" dirty="0"/>
          </a:p>
        </p:txBody>
      </p:sp>
      <p:sp>
        <p:nvSpPr>
          <p:cNvPr id="13" name="model k-NN"/>
          <p:cNvSpPr/>
          <p:nvPr/>
        </p:nvSpPr>
        <p:spPr>
          <a:xfrm>
            <a:off x="457200" y="2971800"/>
            <a:ext cx="2606040" cy="1645920"/>
          </a:xfrm>
          <a:prstGeom prst="roundRect">
            <a:avLst>
              <a:gd name="adj" fmla="val 4444"/>
            </a:avLst>
          </a:prstGeom>
          <a:solidFill>
            <a:srgbClr val="F1ECF8"/>
          </a:solidFill>
          <a:ln/>
        </p:spPr>
      </p:sp>
      <p:sp>
        <p:nvSpPr>
          <p:cNvPr id="14" name="Text 11"/>
          <p:cNvSpPr txBox="1"/>
          <p:nvPr/>
        </p:nvSpPr>
        <p:spPr>
          <a:xfrm>
            <a:off x="640080" y="3081528"/>
            <a:ext cx="2286000" cy="36576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k-NN</a:t>
            </a:r>
            <a:endParaRPr lang="en-US" sz="1600" dirty="0"/>
          </a:p>
        </p:txBody>
      </p:sp>
      <p:sp>
        <p:nvSpPr>
          <p:cNvPr id="15" name="Text 12"/>
          <p:cNvSpPr txBox="1"/>
          <p:nvPr/>
        </p:nvSpPr>
        <p:spPr>
          <a:xfrm>
            <a:off x="640080" y="3502152"/>
            <a:ext cx="2286000" cy="105156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Looks up the 5 most similar training pieces and lets them vote. Nothing is learned in advance.</a:t>
            </a:r>
            <a:endParaRPr lang="en-US" sz="1300" dirty="0"/>
          </a:p>
        </p:txBody>
      </p:sp>
      <p:sp>
        <p:nvSpPr>
          <p:cNvPr id="16" name="model Neural net (MLP)"/>
          <p:cNvSpPr/>
          <p:nvPr/>
        </p:nvSpPr>
        <p:spPr>
          <a:xfrm>
            <a:off x="3246120" y="2971800"/>
            <a:ext cx="2606040" cy="1645920"/>
          </a:xfrm>
          <a:prstGeom prst="roundRect">
            <a:avLst>
              <a:gd name="adj" fmla="val 4444"/>
            </a:avLst>
          </a:prstGeom>
          <a:solidFill>
            <a:srgbClr val="F1ECF8"/>
          </a:solidFill>
          <a:ln/>
        </p:spPr>
      </p:sp>
      <p:sp>
        <p:nvSpPr>
          <p:cNvPr id="17" name="Text 14"/>
          <p:cNvSpPr txBox="1"/>
          <p:nvPr/>
        </p:nvSpPr>
        <p:spPr>
          <a:xfrm>
            <a:off x="3429000" y="3081528"/>
            <a:ext cx="2286000" cy="36576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Neural net (MLP)</a:t>
            </a:r>
            <a:endParaRPr lang="en-US" sz="1600" dirty="0"/>
          </a:p>
        </p:txBody>
      </p:sp>
      <p:sp>
        <p:nvSpPr>
          <p:cNvPr id="18" name="Text 15"/>
          <p:cNvSpPr txBox="1"/>
          <p:nvPr/>
        </p:nvSpPr>
        <p:spPr>
          <a:xfrm>
            <a:off x="3429000" y="3502152"/>
            <a:ext cx="2286000" cy="105156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A small network: 150 hidden units learn useful combinations of features by trial and error.</a:t>
            </a:r>
            <a:endParaRPr lang="en-US" sz="1300" dirty="0"/>
          </a:p>
        </p:txBody>
      </p:sp>
      <p:sp>
        <p:nvSpPr>
          <p:cNvPr id="19" name="model LightGBM"/>
          <p:cNvSpPr/>
          <p:nvPr/>
        </p:nvSpPr>
        <p:spPr>
          <a:xfrm>
            <a:off x="6035040" y="2971800"/>
            <a:ext cx="2606040" cy="1645920"/>
          </a:xfrm>
          <a:prstGeom prst="roundRect">
            <a:avLst>
              <a:gd name="adj" fmla="val 4444"/>
            </a:avLst>
          </a:prstGeom>
          <a:solidFill>
            <a:srgbClr val="F1ECF8"/>
          </a:solidFill>
          <a:ln/>
        </p:spPr>
      </p:sp>
      <p:sp>
        <p:nvSpPr>
          <p:cNvPr id="20" name="Text 17"/>
          <p:cNvSpPr txBox="1"/>
          <p:nvPr/>
        </p:nvSpPr>
        <p:spPr>
          <a:xfrm>
            <a:off x="6217920" y="3081528"/>
            <a:ext cx="2286000" cy="365760"/>
          </a:xfrm>
          <a:prstGeom prst="rect">
            <a:avLst/>
          </a:prstGeom>
          <a:noFill/>
          <a:ln/>
        </p:spPr>
        <p:txBody>
          <a:bodyPr wrap="square" lIns="0" tIns="0" rIns="0" bIns="0" rtlCol="0" anchor="ctr"/>
          <a:lstStyle/>
          <a:p>
            <a:pPr indent="0" marL="0">
              <a:buNone/>
            </a:pPr>
            <a:r>
              <a:rPr lang="en-US" sz="1600" b="1" dirty="0">
                <a:solidFill>
                  <a:srgbClr val="6B3FA0"/>
                </a:solidFill>
                <a:latin typeface="Calibri" pitchFamily="34" charset="0"/>
                <a:ea typeface="Calibri" pitchFamily="34" charset="-122"/>
                <a:cs typeface="Calibri" pitchFamily="34" charset="-120"/>
              </a:rPr>
              <a:t>LightGBM</a:t>
            </a:r>
            <a:endParaRPr lang="en-US" sz="1600" dirty="0"/>
          </a:p>
        </p:txBody>
      </p:sp>
      <p:sp>
        <p:nvSpPr>
          <p:cNvPr id="21" name="Text 18"/>
          <p:cNvSpPr txBox="1"/>
          <p:nvPr/>
        </p:nvSpPr>
        <p:spPr>
          <a:xfrm>
            <a:off x="6217920" y="3502152"/>
            <a:ext cx="2286000" cy="1051560"/>
          </a:xfrm>
          <a:prstGeom prst="rect">
            <a:avLst/>
          </a:prstGeom>
          <a:noFill/>
          <a:ln/>
        </p:spPr>
        <p:txBody>
          <a:bodyPr wrap="square" lIns="0" tIns="0" rIns="0" bIns="0" rtlCol="0" anchor="t"/>
          <a:lstStyle/>
          <a:p>
            <a:pPr indent="0" marL="0">
              <a:buNone/>
            </a:pPr>
            <a:r>
              <a:rPr lang="en-US" sz="1300" dirty="0">
                <a:solidFill>
                  <a:srgbClr val="5B5470"/>
                </a:solidFill>
                <a:latin typeface="Calibri" pitchFamily="34" charset="0"/>
                <a:ea typeface="Calibri" pitchFamily="34" charset="-122"/>
                <a:cs typeface="Calibri" pitchFamily="34" charset="-120"/>
              </a:rPr>
              <a:t>Builds many small decision trees one after another, each trained to fix the previous trees' mistakes.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Settings used for each model</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2926080"/>
                <a:gridCol w="374904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decides</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Settings</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r>
              <a:tr h="420624">
                <a:tc>
                  <a:txBody>
                    <a:bodyPr/>
                    <a:lstStyle/>
                    <a:p>
                      <a:pPr indent="0" marL="0">
                        <a:buNone/>
                      </a:pPr>
                      <a:r>
                        <a:rPr lang="en-US" sz="1300" b="1" dirty="0">
                          <a:solidFill>
                            <a:srgbClr val="1F1630"/>
                          </a:solidFill>
                          <a:latin typeface="Calibri" pitchFamily="34" charset="0"/>
                          <a:ea typeface="Calibri" pitchFamily="34" charset="-122"/>
                          <a:cs typeface="Calibri" pitchFamily="34" charset="-120"/>
                        </a:rPr>
                        <a:t>Softmax</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Highest softmax score</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L2 penalty, C = 0.1</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1630"/>
                          </a:solidFill>
                          <a:latin typeface="Calibri" pitchFamily="34" charset="0"/>
                          <a:ea typeface="Calibri" pitchFamily="34" charset="-122"/>
                          <a:cs typeface="Calibri" pitchFamily="34" charset="-120"/>
                        </a:rPr>
                        <a:t>SVM (RBF)</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One-vs-one votes (78 pair SVMs)</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C = 5.5, gamma = 1/186</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1630"/>
                          </a:solidFill>
                          <a:latin typeface="Calibri" pitchFamily="34" charset="0"/>
                          <a:ea typeface="Calibri" pitchFamily="34" charset="-122"/>
                          <a:cs typeface="Calibri" pitchFamily="34" charset="-120"/>
                        </a:rPr>
                        <a:t>LDA</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Nearest class mean, shared covariance</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shrinkage = auto</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1630"/>
                          </a:solidFill>
                          <a:latin typeface="Calibri" pitchFamily="34" charset="0"/>
                          <a:ea typeface="Calibri" pitchFamily="34" charset="-122"/>
                          <a:cs typeface="Calibri" pitchFamily="34" charset="-120"/>
                        </a:rPr>
                        <a:t>k-NN</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Distance-weighted vote</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k = 5</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1630"/>
                          </a:solidFill>
                          <a:latin typeface="Calibri" pitchFamily="34" charset="0"/>
                          <a:ea typeface="Calibri" pitchFamily="34" charset="-122"/>
                          <a:cs typeface="Calibri" pitchFamily="34" charset="-120"/>
                        </a:rPr>
                        <a:t>MLP</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150 ReLU units then softmax</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SGD, lr 0.04, momentum 0.9, batch 50, L2 1e-3</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420624">
                <a:tc>
                  <a:txBody>
                    <a:bodyPr/>
                    <a:lstStyle/>
                    <a:p>
                      <a:pPr indent="0" marL="0">
                        <a:buNone/>
                      </a:pPr>
                      <a:r>
                        <a:rPr lang="en-US" sz="1300" b="1" dirty="0">
                          <a:solidFill>
                            <a:srgbClr val="1F1630"/>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Sum of 700 rounds of trees</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indent="0" marL="0">
                        <a:buNone/>
                      </a:pPr>
                      <a:r>
                        <a:rPr lang="en-US" sz="1300" dirty="0">
                          <a:solidFill>
                            <a:srgbClr val="1F1630"/>
                          </a:solidFill>
                          <a:latin typeface="Calibri" pitchFamily="34" charset="0"/>
                          <a:ea typeface="Calibri" pitchFamily="34" charset="-122"/>
                          <a:cs typeface="Calibri" pitchFamily="34" charset="-120"/>
                        </a:rPr>
                        <a:t>lr 0.05, lambda 10, row 0.6, column 0.5</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How we keep the evaluation honest</a:t>
            </a:r>
            <a:endParaRPr lang="en-US" sz="2800" dirty="0"/>
          </a:p>
        </p:txBody>
      </p:sp>
      <p:sp>
        <p:nvSpPr>
          <p:cNvPr id="4" name="rule 1"/>
          <p:cNvSpPr/>
          <p:nvPr/>
        </p:nvSpPr>
        <p:spPr>
          <a:xfrm>
            <a:off x="457200" y="1280160"/>
            <a:ext cx="8229600" cy="731520"/>
          </a:xfrm>
          <a:prstGeom prst="roundRect">
            <a:avLst>
              <a:gd name="adj" fmla="val 10000"/>
            </a:avLst>
          </a:prstGeom>
          <a:solidFill>
            <a:srgbClr val="F1ECF8"/>
          </a:solidFill>
          <a:ln/>
        </p:spPr>
      </p:sp>
      <p:sp>
        <p:nvSpPr>
          <p:cNvPr id="5" name="rule badge 1"/>
          <p:cNvSpPr/>
          <p:nvPr/>
        </p:nvSpPr>
        <p:spPr>
          <a:xfrm>
            <a:off x="640080" y="1417320"/>
            <a:ext cx="457200" cy="457200"/>
          </a:xfrm>
          <a:prstGeom prst="ellipse">
            <a:avLst/>
          </a:prstGeom>
          <a:solidFill>
            <a:srgbClr val="F2A33A"/>
          </a:solidFill>
          <a:ln/>
        </p:spPr>
      </p:sp>
      <p:sp>
        <p:nvSpPr>
          <p:cNvPr id="6" name="Text 3"/>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600" b="1" dirty="0">
                <a:solidFill>
                  <a:srgbClr val="1F1630"/>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25880" y="1325880"/>
            <a:ext cx="2377440" cy="64008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60 / 20 / 20</a:t>
            </a:r>
            <a:endParaRPr lang="en-US" sz="1600" dirty="0"/>
          </a:p>
        </p:txBody>
      </p:sp>
      <p:sp>
        <p:nvSpPr>
          <p:cNvPr id="8" name="Text 5"/>
          <p:cNvSpPr txBox="1"/>
          <p:nvPr/>
        </p:nvSpPr>
        <p:spPr>
          <a:xfrm>
            <a:off x="3749040" y="1325880"/>
            <a:ext cx="4754880" cy="640080"/>
          </a:xfrm>
          <a:prstGeom prst="rect">
            <a:avLst/>
          </a:prstGeom>
          <a:noFill/>
          <a:ln/>
        </p:spPr>
        <p:txBody>
          <a:bodyPr wrap="square" lIns="0" tIns="0" rIns="0" bIns="0" rtlCol="0" anchor="ctr"/>
          <a:lstStyle/>
          <a:p>
            <a:pPr indent="0" marL="0">
              <a:buNone/>
            </a:pPr>
            <a:r>
              <a:rPr lang="en-US" sz="1400" dirty="0">
                <a:solidFill>
                  <a:srgbClr val="1F1630"/>
                </a:solidFill>
                <a:latin typeface="Calibri" pitchFamily="34" charset="0"/>
                <a:ea typeface="Calibri" pitchFamily="34" charset="-122"/>
                <a:cs typeface="Calibri" pitchFamily="34" charset="-120"/>
              </a:rPr>
              <a:t>Stratified train / dev / test split, every composer in all three</a:t>
            </a:r>
            <a:endParaRPr lang="en-US" sz="1400" dirty="0"/>
          </a:p>
        </p:txBody>
      </p:sp>
      <p:sp>
        <p:nvSpPr>
          <p:cNvPr id="9" name="rule 2"/>
          <p:cNvSpPr/>
          <p:nvPr/>
        </p:nvSpPr>
        <p:spPr>
          <a:xfrm>
            <a:off x="457200" y="2148840"/>
            <a:ext cx="8229600" cy="731520"/>
          </a:xfrm>
          <a:prstGeom prst="roundRect">
            <a:avLst>
              <a:gd name="adj" fmla="val 10000"/>
            </a:avLst>
          </a:prstGeom>
          <a:solidFill>
            <a:srgbClr val="F1ECF8"/>
          </a:solidFill>
          <a:ln/>
        </p:spPr>
      </p:sp>
      <p:sp>
        <p:nvSpPr>
          <p:cNvPr id="10" name="rule badge 2"/>
          <p:cNvSpPr/>
          <p:nvPr/>
        </p:nvSpPr>
        <p:spPr>
          <a:xfrm>
            <a:off x="640080" y="2286000"/>
            <a:ext cx="457200" cy="457200"/>
          </a:xfrm>
          <a:prstGeom prst="ellipse">
            <a:avLst/>
          </a:prstGeom>
          <a:solidFill>
            <a:srgbClr val="F2A33A"/>
          </a:solidFill>
          <a:ln/>
        </p:spPr>
      </p:sp>
      <p:sp>
        <p:nvSpPr>
          <p:cNvPr id="11" name="Text 8"/>
          <p:cNvSpPr txBox="1"/>
          <p:nvPr/>
        </p:nvSpPr>
        <p:spPr>
          <a:xfrm>
            <a:off x="640080" y="2286000"/>
            <a:ext cx="457200" cy="457200"/>
          </a:xfrm>
          <a:prstGeom prst="rect">
            <a:avLst/>
          </a:prstGeom>
          <a:noFill/>
          <a:ln/>
        </p:spPr>
        <p:txBody>
          <a:bodyPr wrap="square" lIns="0" tIns="0" rIns="0" bIns="0" rtlCol="0" anchor="ctr"/>
          <a:lstStyle/>
          <a:p>
            <a:pPr algn="ctr" indent="0" marL="0">
              <a:buNone/>
            </a:pPr>
            <a:r>
              <a:rPr lang="en-US" sz="1600" b="1" dirty="0">
                <a:solidFill>
                  <a:srgbClr val="1F1630"/>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325880" y="2194560"/>
            <a:ext cx="2377440" cy="64008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Train-only scaling</a:t>
            </a:r>
            <a:endParaRPr lang="en-US" sz="1600" dirty="0"/>
          </a:p>
        </p:txBody>
      </p:sp>
      <p:sp>
        <p:nvSpPr>
          <p:cNvPr id="13" name="Text 10"/>
          <p:cNvSpPr txBox="1"/>
          <p:nvPr/>
        </p:nvSpPr>
        <p:spPr>
          <a:xfrm>
            <a:off x="3749040" y="2194560"/>
            <a:ext cx="4754880" cy="640080"/>
          </a:xfrm>
          <a:prstGeom prst="rect">
            <a:avLst/>
          </a:prstGeom>
          <a:noFill/>
          <a:ln/>
        </p:spPr>
        <p:txBody>
          <a:bodyPr wrap="square" lIns="0" tIns="0" rIns="0" bIns="0" rtlCol="0" anchor="ctr"/>
          <a:lstStyle/>
          <a:p>
            <a:pPr indent="0" marL="0">
              <a:buNone/>
            </a:pPr>
            <a:r>
              <a:rPr lang="en-US" sz="1400" dirty="0">
                <a:solidFill>
                  <a:srgbClr val="1F1630"/>
                </a:solidFill>
                <a:latin typeface="Calibri" pitchFamily="34" charset="0"/>
                <a:ea typeface="Calibri" pitchFamily="34" charset="-122"/>
                <a:cs typeface="Calibri" pitchFamily="34" charset="-120"/>
              </a:rPr>
              <a:t>Means and standard deviations come from training pieces only</a:t>
            </a:r>
            <a:endParaRPr lang="en-US" sz="1400" dirty="0"/>
          </a:p>
        </p:txBody>
      </p:sp>
      <p:sp>
        <p:nvSpPr>
          <p:cNvPr id="14" name="rule 3"/>
          <p:cNvSpPr/>
          <p:nvPr/>
        </p:nvSpPr>
        <p:spPr>
          <a:xfrm>
            <a:off x="457200" y="3017520"/>
            <a:ext cx="8229600" cy="731520"/>
          </a:xfrm>
          <a:prstGeom prst="roundRect">
            <a:avLst>
              <a:gd name="adj" fmla="val 10000"/>
            </a:avLst>
          </a:prstGeom>
          <a:solidFill>
            <a:srgbClr val="F1ECF8"/>
          </a:solidFill>
          <a:ln/>
        </p:spPr>
      </p:sp>
      <p:sp>
        <p:nvSpPr>
          <p:cNvPr id="15" name="rule badge 3"/>
          <p:cNvSpPr/>
          <p:nvPr/>
        </p:nvSpPr>
        <p:spPr>
          <a:xfrm>
            <a:off x="640080" y="3154680"/>
            <a:ext cx="457200" cy="457200"/>
          </a:xfrm>
          <a:prstGeom prst="ellipse">
            <a:avLst/>
          </a:prstGeom>
          <a:solidFill>
            <a:srgbClr val="F2A33A"/>
          </a:solidFill>
          <a:ln/>
        </p:spPr>
      </p:sp>
      <p:sp>
        <p:nvSpPr>
          <p:cNvPr id="16" name="Text 13"/>
          <p:cNvSpPr txBox="1"/>
          <p:nvPr/>
        </p:nvSpPr>
        <p:spPr>
          <a:xfrm>
            <a:off x="640080" y="3154680"/>
            <a:ext cx="457200" cy="457200"/>
          </a:xfrm>
          <a:prstGeom prst="rect">
            <a:avLst/>
          </a:prstGeom>
          <a:noFill/>
          <a:ln/>
        </p:spPr>
        <p:txBody>
          <a:bodyPr wrap="square" lIns="0" tIns="0" rIns="0" bIns="0" rtlCol="0" anchor="ctr"/>
          <a:lstStyle/>
          <a:p>
            <a:pPr algn="ctr" indent="0" marL="0">
              <a:buNone/>
            </a:pPr>
            <a:r>
              <a:rPr lang="en-US" sz="1600" b="1" dirty="0">
                <a:solidFill>
                  <a:srgbClr val="1F1630"/>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1325880" y="3063240"/>
            <a:ext cx="2377440" cy="64008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Select on dev</a:t>
            </a:r>
            <a:endParaRPr lang="en-US" sz="1600" dirty="0"/>
          </a:p>
        </p:txBody>
      </p:sp>
      <p:sp>
        <p:nvSpPr>
          <p:cNvPr id="18" name="Text 15"/>
          <p:cNvSpPr txBox="1"/>
          <p:nvPr/>
        </p:nvSpPr>
        <p:spPr>
          <a:xfrm>
            <a:off x="3749040" y="3063240"/>
            <a:ext cx="4754880" cy="640080"/>
          </a:xfrm>
          <a:prstGeom prst="rect">
            <a:avLst/>
          </a:prstGeom>
          <a:noFill/>
          <a:ln/>
        </p:spPr>
        <p:txBody>
          <a:bodyPr wrap="square" lIns="0" tIns="0" rIns="0" bIns="0" rtlCol="0" anchor="ctr"/>
          <a:lstStyle/>
          <a:p>
            <a:pPr indent="0" marL="0">
              <a:buNone/>
            </a:pPr>
            <a:r>
              <a:rPr lang="en-US" sz="1400" dirty="0">
                <a:solidFill>
                  <a:srgbClr val="1F1630"/>
                </a:solidFill>
                <a:latin typeface="Calibri" pitchFamily="34" charset="0"/>
                <a:ea typeface="Calibri" pitchFamily="34" charset="-122"/>
                <a:cs typeface="Calibri" pitchFamily="34" charset="-120"/>
              </a:rPr>
              <a:t>The best model is chosen on dev accuracy, never on test</a:t>
            </a:r>
            <a:endParaRPr lang="en-US" sz="1400" dirty="0"/>
          </a:p>
        </p:txBody>
      </p:sp>
      <p:sp>
        <p:nvSpPr>
          <p:cNvPr id="19" name="rule 4"/>
          <p:cNvSpPr/>
          <p:nvPr/>
        </p:nvSpPr>
        <p:spPr>
          <a:xfrm>
            <a:off x="457200" y="3886200"/>
            <a:ext cx="8229600" cy="731520"/>
          </a:xfrm>
          <a:prstGeom prst="roundRect">
            <a:avLst>
              <a:gd name="adj" fmla="val 10000"/>
            </a:avLst>
          </a:prstGeom>
          <a:solidFill>
            <a:srgbClr val="F1ECF8"/>
          </a:solidFill>
          <a:ln/>
        </p:spPr>
      </p:sp>
      <p:sp>
        <p:nvSpPr>
          <p:cNvPr id="20" name="rule badge 4"/>
          <p:cNvSpPr/>
          <p:nvPr/>
        </p:nvSpPr>
        <p:spPr>
          <a:xfrm>
            <a:off x="640080" y="4023360"/>
            <a:ext cx="457200" cy="457200"/>
          </a:xfrm>
          <a:prstGeom prst="ellipse">
            <a:avLst/>
          </a:prstGeom>
          <a:solidFill>
            <a:srgbClr val="F2A33A"/>
          </a:solidFill>
          <a:ln/>
        </p:spPr>
      </p:sp>
      <p:sp>
        <p:nvSpPr>
          <p:cNvPr id="21" name="Text 18"/>
          <p:cNvSpPr txBox="1"/>
          <p:nvPr/>
        </p:nvSpPr>
        <p:spPr>
          <a:xfrm>
            <a:off x="640080" y="4023360"/>
            <a:ext cx="457200" cy="457200"/>
          </a:xfrm>
          <a:prstGeom prst="rect">
            <a:avLst/>
          </a:prstGeom>
          <a:noFill/>
          <a:ln/>
        </p:spPr>
        <p:txBody>
          <a:bodyPr wrap="square" lIns="0" tIns="0" rIns="0" bIns="0" rtlCol="0" anchor="ctr"/>
          <a:lstStyle/>
          <a:p>
            <a:pPr algn="ctr" indent="0" marL="0">
              <a:buNone/>
            </a:pPr>
            <a:r>
              <a:rPr lang="en-US" sz="1600" b="1" dirty="0">
                <a:solidFill>
                  <a:srgbClr val="1F1630"/>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1325880" y="3931920"/>
            <a:ext cx="2377440" cy="640080"/>
          </a:xfrm>
          <a:prstGeom prst="rect">
            <a:avLst/>
          </a:prstGeom>
          <a:noFill/>
          <a:ln/>
        </p:spPr>
        <p:txBody>
          <a:bodyPr wrap="square" lIns="0" tIns="0" rIns="0" bIns="0" rtlCol="0" anchor="ctr"/>
          <a:lstStyle/>
          <a:p>
            <a:pPr indent="0" marL="0">
              <a:buNone/>
            </a:pPr>
            <a:r>
              <a:rPr lang="en-US" sz="1600" b="1" dirty="0">
                <a:solidFill>
                  <a:srgbClr val="1F1630"/>
                </a:solidFill>
                <a:latin typeface="Calibri" pitchFamily="34" charset="0"/>
                <a:ea typeface="Calibri" pitchFamily="34" charset="-122"/>
                <a:cs typeface="Calibri" pitchFamily="34" charset="-120"/>
              </a:rPr>
              <a:t>Test once</a:t>
            </a:r>
            <a:endParaRPr lang="en-US" sz="1600" dirty="0"/>
          </a:p>
        </p:txBody>
      </p:sp>
      <p:sp>
        <p:nvSpPr>
          <p:cNvPr id="23" name="Text 20"/>
          <p:cNvSpPr txBox="1"/>
          <p:nvPr/>
        </p:nvSpPr>
        <p:spPr>
          <a:xfrm>
            <a:off x="3749040" y="3931920"/>
            <a:ext cx="4754880" cy="640080"/>
          </a:xfrm>
          <a:prstGeom prst="rect">
            <a:avLst/>
          </a:prstGeom>
          <a:noFill/>
          <a:ln/>
        </p:spPr>
        <p:txBody>
          <a:bodyPr wrap="square" lIns="0" tIns="0" rIns="0" bIns="0" rtlCol="0" anchor="ctr"/>
          <a:lstStyle/>
          <a:p>
            <a:pPr indent="0" marL="0">
              <a:buNone/>
            </a:pPr>
            <a:r>
              <a:rPr lang="en-US" sz="1400" dirty="0">
                <a:solidFill>
                  <a:srgbClr val="1F1630"/>
                </a:solidFill>
                <a:latin typeface="Calibri" pitchFamily="34" charset="0"/>
                <a:ea typeface="Calibri" pitchFamily="34" charset="-122"/>
                <a:cs typeface="Calibri" pitchFamily="34" charset="-120"/>
              </a:rPr>
              <a:t>Test accuracy plus macro precision, recall and F1 are reported once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Results: LightGBM leads, top three tie</a:t>
            </a:r>
            <a:endParaRPr lang="en-US" sz="2800" dirty="0"/>
          </a:p>
        </p:txBody>
      </p:sp>
      <p:graphicFrame>
        <p:nvGraphicFramePr>
          <p:cNvPr id="4" name="Chart 0" descr=""/>
          <p:cNvGraphicFramePr/>
          <p:nvPr/>
        </p:nvGraphicFramePr>
        <p:xfrm>
          <a:off x="457200" y="1143000"/>
          <a:ext cx="5669280" cy="3611880"/>
        </p:xfrm>
        <a:graphic xmlns:a="http://schemas.openxmlformats.org/drawingml/2006/main">
          <a:graphicData uri="http://schemas.openxmlformats.org/drawingml/2006/chart">
            <c:chart xmlns:c="http://schemas.openxmlformats.org/drawingml/2006/chart" r:id="rId1"/>
          </a:graphicData>
        </a:graphic>
      </p:graphicFrame>
      <p:sp>
        <p:nvSpPr>
          <p:cNvPr id="5" name="callout best"/>
          <p:cNvSpPr/>
          <p:nvPr/>
        </p:nvSpPr>
        <p:spPr>
          <a:xfrm>
            <a:off x="6400800" y="1280160"/>
            <a:ext cx="2286000" cy="1463040"/>
          </a:xfrm>
          <a:prstGeom prst="roundRect">
            <a:avLst>
              <a:gd name="adj" fmla="val 5000"/>
            </a:avLst>
          </a:prstGeom>
          <a:solidFill>
            <a:srgbClr val="F1ECF8"/>
          </a:solidFill>
          <a:ln/>
        </p:spPr>
      </p:sp>
      <p:sp>
        <p:nvSpPr>
          <p:cNvPr id="6" name="Text 2"/>
          <p:cNvSpPr txBox="1"/>
          <p:nvPr/>
        </p:nvSpPr>
        <p:spPr>
          <a:xfrm>
            <a:off x="6537960" y="1371600"/>
            <a:ext cx="2011680" cy="731520"/>
          </a:xfrm>
          <a:prstGeom prst="rect">
            <a:avLst/>
          </a:prstGeom>
          <a:noFill/>
          <a:ln/>
        </p:spPr>
        <p:txBody>
          <a:bodyPr wrap="square" lIns="0" tIns="0" rIns="0" bIns="0" rtlCol="0" anchor="ctr"/>
          <a:lstStyle/>
          <a:p>
            <a:pPr indent="0" marL="0">
              <a:buNone/>
            </a:pPr>
            <a:r>
              <a:rPr lang="en-US" sz="3600" b="1" dirty="0">
                <a:solidFill>
                  <a:srgbClr val="6B3FA0"/>
                </a:solidFill>
                <a:latin typeface="Cambria" pitchFamily="34" charset="0"/>
                <a:ea typeface="Cambria" pitchFamily="34" charset="-122"/>
                <a:cs typeface="Cambria" pitchFamily="34" charset="-120"/>
              </a:rPr>
              <a:t>0.869</a:t>
            </a:r>
            <a:endParaRPr lang="en-US" sz="3600" dirty="0"/>
          </a:p>
        </p:txBody>
      </p:sp>
      <p:sp>
        <p:nvSpPr>
          <p:cNvPr id="7" name="Text 3"/>
          <p:cNvSpPr txBox="1"/>
          <p:nvPr/>
        </p:nvSpPr>
        <p:spPr>
          <a:xfrm>
            <a:off x="6537960" y="2103120"/>
            <a:ext cx="2011680" cy="548640"/>
          </a:xfrm>
          <a:prstGeom prst="rect">
            <a:avLst/>
          </a:prstGeom>
          <a:noFill/>
          <a:ln/>
        </p:spPr>
        <p:txBody>
          <a:bodyPr wrap="square" lIns="0" tIns="0" rIns="0" bIns="0" rtlCol="0" anchor="t"/>
          <a:lstStyle/>
          <a:p>
            <a:pPr indent="0" marL="0">
              <a:buNone/>
            </a:pPr>
            <a:r>
              <a:rPr lang="en-US" sz="1300" dirty="0">
                <a:solidFill>
                  <a:srgbClr val="1F1630"/>
                </a:solidFill>
                <a:latin typeface="Calibri" pitchFamily="34" charset="0"/>
                <a:ea typeface="Calibri" pitchFamily="34" charset="-122"/>
                <a:cs typeface="Calibri" pitchFamily="34" charset="-120"/>
              </a:rPr>
              <a:t>LightGBM test accuracy, 13 composers</a:t>
            </a:r>
            <a:endParaRPr lang="en-US" sz="1300" dirty="0"/>
          </a:p>
        </p:txBody>
      </p:sp>
      <p:sp>
        <p:nvSpPr>
          <p:cNvPr id="8" name="callout noise"/>
          <p:cNvSpPr/>
          <p:nvPr/>
        </p:nvSpPr>
        <p:spPr>
          <a:xfrm>
            <a:off x="6400800" y="2926080"/>
            <a:ext cx="2286000" cy="1463040"/>
          </a:xfrm>
          <a:prstGeom prst="roundRect">
            <a:avLst>
              <a:gd name="adj" fmla="val 5000"/>
            </a:avLst>
          </a:prstGeom>
          <a:solidFill>
            <a:srgbClr val="F1ECF8"/>
          </a:solidFill>
          <a:ln/>
        </p:spPr>
      </p:sp>
      <p:sp>
        <p:nvSpPr>
          <p:cNvPr id="9" name="Text 5"/>
          <p:cNvSpPr txBox="1"/>
          <p:nvPr/>
        </p:nvSpPr>
        <p:spPr>
          <a:xfrm>
            <a:off x="6537960" y="3017520"/>
            <a:ext cx="2011680" cy="731520"/>
          </a:xfrm>
          <a:prstGeom prst="rect">
            <a:avLst/>
          </a:prstGeom>
          <a:noFill/>
          <a:ln/>
        </p:spPr>
        <p:txBody>
          <a:bodyPr wrap="square" lIns="0" tIns="0" rIns="0" bIns="0" rtlCol="0" anchor="ctr"/>
          <a:lstStyle/>
          <a:p>
            <a:pPr indent="0" marL="0">
              <a:buNone/>
            </a:pPr>
            <a:r>
              <a:rPr lang="en-US" sz="3000" b="1" dirty="0">
                <a:solidFill>
                  <a:srgbClr val="F2A33A"/>
                </a:solidFill>
                <a:latin typeface="Cambria" pitchFamily="34" charset="0"/>
                <a:ea typeface="Cambria" pitchFamily="34" charset="-122"/>
                <a:cs typeface="Cambria" pitchFamily="34" charset="-120"/>
              </a:rPr>
              <a:t>0.7 pts</a:t>
            </a:r>
            <a:endParaRPr lang="en-US" sz="3000" dirty="0"/>
          </a:p>
        </p:txBody>
      </p:sp>
      <p:sp>
        <p:nvSpPr>
          <p:cNvPr id="10" name="Text 6"/>
          <p:cNvSpPr txBox="1"/>
          <p:nvPr/>
        </p:nvSpPr>
        <p:spPr>
          <a:xfrm>
            <a:off x="6537960" y="3749040"/>
            <a:ext cx="2011680" cy="548640"/>
          </a:xfrm>
          <a:prstGeom prst="rect">
            <a:avLst/>
          </a:prstGeom>
          <a:noFill/>
          <a:ln/>
        </p:spPr>
        <p:txBody>
          <a:bodyPr wrap="square" lIns="0" tIns="0" rIns="0" bIns="0" rtlCol="0" anchor="t"/>
          <a:lstStyle/>
          <a:p>
            <a:pPr indent="0" marL="0">
              <a:buNone/>
            </a:pPr>
            <a:r>
              <a:rPr lang="en-US" sz="1300" dirty="0">
                <a:solidFill>
                  <a:srgbClr val="1F1630"/>
                </a:solidFill>
                <a:latin typeface="Calibri" pitchFamily="34" charset="0"/>
                <a:ea typeface="Calibri" pitchFamily="34" charset="-122"/>
                <a:cs typeface="Calibri" pitchFamily="34" charset="-120"/>
              </a:rPr>
              <a:t>one test piece, so the top three are tied</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Precision, recall and F1 per model</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1051560"/>
                <a:gridCol w="1051560"/>
                <a:gridCol w="1051560"/>
                <a:gridCol w="1051560"/>
                <a:gridCol w="1051560"/>
                <a:gridCol w="1051560"/>
              </a:tblGrid>
              <a:tr h="3383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Train acc.</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Dev acc.</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acc.</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6B3FA0"/>
                    </a:solidFill>
                  </a:tcPr>
                </a:tc>
              </a:tr>
              <a:tr h="338328">
                <a:tc>
                  <a:txBody>
                    <a:bodyPr/>
                    <a:lstStyle/>
                    <a:p>
                      <a:pPr algn="l" indent="0" marL="0">
                        <a:buNone/>
                      </a:pPr>
                      <a:r>
                        <a:rPr lang="en-US" sz="1300" b="1" dirty="0">
                          <a:solidFill>
                            <a:srgbClr val="1F1630"/>
                          </a:solidFill>
                          <a:latin typeface="Calibri" pitchFamily="34" charset="0"/>
                          <a:ea typeface="Calibri" pitchFamily="34" charset="-122"/>
                          <a:cs typeface="Calibri" pitchFamily="34" charset="-120"/>
                        </a:rPr>
                        <a:t>LightGBM</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0.834</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1630"/>
                          </a:solidFill>
                          <a:latin typeface="Calibri" pitchFamily="34" charset="0"/>
                          <a:ea typeface="Calibri" pitchFamily="34" charset="-122"/>
                          <a:cs typeface="Calibri" pitchFamily="34" charset="-120"/>
                        </a:rPr>
                        <a:t>0.869</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0.880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0.785</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0.800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338328">
                <a:tc>
                  <a:txBody>
                    <a:bodyPr/>
                    <a:lstStyle/>
                    <a:p>
                      <a:pPr algn="l" indent="0" marL="0">
                        <a:buNone/>
                      </a:pPr>
                      <a:r>
                        <a:rPr lang="en-US" sz="1300" b="1" dirty="0">
                          <a:solidFill>
                            <a:srgbClr val="1F1630"/>
                          </a:solidFill>
                          <a:latin typeface="Calibri" pitchFamily="34" charset="0"/>
                          <a:ea typeface="Calibri" pitchFamily="34" charset="-122"/>
                          <a:cs typeface="Calibri" pitchFamily="34" charset="-120"/>
                        </a:rPr>
                        <a:t>SVM (RBF)</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0.848</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0.855</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1630"/>
                          </a:solidFill>
                          <a:latin typeface="Calibri" pitchFamily="34" charset="0"/>
                          <a:ea typeface="Calibri" pitchFamily="34" charset="-122"/>
                          <a:cs typeface="Calibri" pitchFamily="34" charset="-120"/>
                        </a:rPr>
                        <a:t>0.890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1630"/>
                          </a:solidFill>
                          <a:latin typeface="Calibri" pitchFamily="34" charset="0"/>
                          <a:ea typeface="Calibri" pitchFamily="34" charset="-122"/>
                          <a:cs typeface="Calibri" pitchFamily="34" charset="-120"/>
                        </a:rPr>
                        <a:t>0.806</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1630"/>
                          </a:solidFill>
                          <a:latin typeface="Calibri" pitchFamily="34" charset="0"/>
                          <a:ea typeface="Calibri" pitchFamily="34" charset="-122"/>
                          <a:cs typeface="Calibri" pitchFamily="34" charset="-120"/>
                        </a:rPr>
                        <a:t>0.807</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338328">
                <a:tc>
                  <a:txBody>
                    <a:bodyPr/>
                    <a:lstStyle/>
                    <a:p>
                      <a:pPr algn="l" indent="0" marL="0">
                        <a:buNone/>
                      </a:pPr>
                      <a:r>
                        <a:rPr lang="en-US" sz="1300" b="1" dirty="0">
                          <a:solidFill>
                            <a:srgbClr val="1F1630"/>
                          </a:solidFill>
                          <a:latin typeface="Calibri" pitchFamily="34" charset="0"/>
                          <a:ea typeface="Calibri" pitchFamily="34" charset="-122"/>
                          <a:cs typeface="Calibri" pitchFamily="34" charset="-120"/>
                        </a:rPr>
                        <a:t>Softmax</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0.998</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0.793</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0.855</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0.857</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0.776</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0.790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338328">
                <a:tc>
                  <a:txBody>
                    <a:bodyPr/>
                    <a:lstStyle/>
                    <a:p>
                      <a:pPr algn="l" indent="0" marL="0">
                        <a:buNone/>
                      </a:pPr>
                      <a:r>
                        <a:rPr lang="en-US" sz="1300" b="1" dirty="0">
                          <a:solidFill>
                            <a:srgbClr val="1F1630"/>
                          </a:solidFill>
                          <a:latin typeface="Calibri" pitchFamily="34" charset="0"/>
                          <a:ea typeface="Calibri" pitchFamily="34" charset="-122"/>
                          <a:cs typeface="Calibri" pitchFamily="34" charset="-120"/>
                        </a:rPr>
                        <a:t>MLP</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0.841</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0.841</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0.820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0.779</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0.784</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338328">
                <a:tc>
                  <a:txBody>
                    <a:bodyPr/>
                    <a:lstStyle/>
                    <a:p>
                      <a:pPr algn="l" indent="0" marL="0">
                        <a:buNone/>
                      </a:pPr>
                      <a:r>
                        <a:rPr lang="en-US" sz="1300" b="1" dirty="0">
                          <a:solidFill>
                            <a:srgbClr val="1F1630"/>
                          </a:solidFill>
                          <a:latin typeface="Calibri" pitchFamily="34" charset="0"/>
                          <a:ea typeface="Calibri" pitchFamily="34" charset="-122"/>
                          <a:cs typeface="Calibri" pitchFamily="34" charset="-120"/>
                        </a:rPr>
                        <a:t>LDA</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0.961</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0.862</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0.814</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0.823</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0.755</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0.759</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r h="338328">
                <a:tc>
                  <a:txBody>
                    <a:bodyPr/>
                    <a:lstStyle/>
                    <a:p>
                      <a:pPr algn="l" indent="0" marL="0">
                        <a:buNone/>
                      </a:pPr>
                      <a:r>
                        <a:rPr lang="en-US" sz="1300" b="1" dirty="0">
                          <a:solidFill>
                            <a:srgbClr val="1F1630"/>
                          </a:solidFill>
                          <a:latin typeface="Calibri" pitchFamily="34" charset="0"/>
                          <a:ea typeface="Calibri" pitchFamily="34" charset="-122"/>
                          <a:cs typeface="Calibri" pitchFamily="34" charset="-120"/>
                        </a:rPr>
                        <a:t>k-NN</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0.697</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0.759</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0.672</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0.688</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1630"/>
                          </a:solidFill>
                          <a:latin typeface="Calibri" pitchFamily="34" charset="0"/>
                          <a:ea typeface="Calibri" pitchFamily="34" charset="-122"/>
                          <a:cs typeface="Calibri" pitchFamily="34" charset="-120"/>
                        </a:rPr>
                        <a:t>0.660</a:t>
                      </a:r>
                      <a:endParaRPr lang="en-US" sz="1300" dirty="0">
                        <a:latin typeface="Calibri" charset="0"/>
                        <a:ea typeface="Calibri" charset="0"/>
                        <a:cs typeface="Calibri" charset="0"/>
                      </a:endParaRPr>
                    </a:p>
                  </a:txBody>
                  <a:tcPr marL="91440" marR="91440" marT="45720" marB="45720" anchor="ctr">
                    <a:lnL w="9525" cap="flat" cmpd="sng" algn="ctr">
                      <a:solidFill>
                        <a:srgbClr val="E4DDF0"/>
                      </a:solidFill>
                      <a:prstDash val="solid"/>
                      <a:round/>
                      <a:headEnd type="none" w="med" len="med"/>
                      <a:tailEnd type="none" w="med" len="med"/>
                    </a:lnL>
                    <a:lnR w="9525" cap="flat" cmpd="sng" algn="ctr">
                      <a:solidFill>
                        <a:srgbClr val="E4DDF0"/>
                      </a:solidFill>
                      <a:prstDash val="solid"/>
                      <a:round/>
                      <a:headEnd type="none" w="med" len="med"/>
                      <a:tailEnd type="none" w="med" len="med"/>
                    </a:lnR>
                    <a:lnT w="9525" cap="flat" cmpd="sng" algn="ctr">
                      <a:solidFill>
                        <a:srgbClr val="E4DDF0"/>
                      </a:solidFill>
                      <a:prstDash val="solid"/>
                      <a:round/>
                      <a:headEnd type="none" w="med" len="med"/>
                      <a:tailEnd type="none" w="med" len="med"/>
                    </a:lnT>
                    <a:lnB w="9525" cap="flat" cmpd="sng" algn="ctr">
                      <a:solidFill>
                        <a:srgbClr val="E4DDF0"/>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3611880"/>
            <a:ext cx="8229600" cy="274320"/>
          </a:xfrm>
          <a:prstGeom prst="rect">
            <a:avLst/>
          </a:prstGeom>
          <a:noFill/>
          <a:ln/>
        </p:spPr>
        <p:txBody>
          <a:bodyPr wrap="square" lIns="0" tIns="0" rIns="0" bIns="0" rtlCol="0" anchor="ctr"/>
          <a:lstStyle/>
          <a:p>
            <a:pPr indent="0" marL="0">
              <a:buNone/>
            </a:pPr>
            <a:r>
              <a:rPr lang="en-US" sz="1200" dirty="0">
                <a:solidFill>
                  <a:srgbClr val="5B5470"/>
                </a:solidFill>
                <a:latin typeface="Calibri" pitchFamily="34" charset="0"/>
                <a:ea typeface="Calibri" pitchFamily="34" charset="-122"/>
                <a:cs typeface="Calibri" pitchFamily="34" charset="-120"/>
              </a:rPr>
              <a:t>Test-set precision, recall and F1 are macro-averaged: each composer counts equally. Bold = best in column.</a:t>
            </a:r>
            <a:endParaRPr lang="en-US" sz="1200" dirty="0"/>
          </a:p>
        </p:txBody>
      </p:sp>
      <p:sp>
        <p:nvSpPr>
          <p:cNvPr id="6" name="Text 2"/>
          <p:cNvSpPr txBox="1"/>
          <p:nvPr/>
        </p:nvSpPr>
        <p:spPr>
          <a:xfrm>
            <a:off x="457200" y="3977640"/>
            <a:ext cx="2606040" cy="777240"/>
          </a:xfrm>
          <a:prstGeom prst="rect">
            <a:avLst/>
          </a:prstGeom>
          <a:noFill/>
          <a:ln/>
        </p:spPr>
        <p:txBody>
          <a:bodyPr wrap="square" lIns="0" tIns="0" rIns="0" bIns="0" rtlCol="0" anchor="t"/>
          <a:lstStyle/>
          <a:p>
            <a:pPr indent="0" marL="0">
              <a:buNone/>
            </a:pPr>
            <a:r>
              <a:rPr lang="en-US" sz="1400" b="1" dirty="0">
                <a:solidFill>
                  <a:srgbClr val="6B3FA0"/>
                </a:solidFill>
                <a:latin typeface="Calibri" pitchFamily="34" charset="0"/>
                <a:ea typeface="Calibri" pitchFamily="34" charset="-122"/>
                <a:cs typeface="Calibri" pitchFamily="34" charset="-120"/>
              </a:rPr>
              <a:t>Precision</a:t>
            </a:r>
            <a:endParaRPr lang="en-US" sz="1400" dirty="0"/>
          </a:p>
          <a:p>
            <a:pPr indent="0" marL="0">
              <a:buNone/>
            </a:pPr>
            <a:r>
              <a:rPr lang="en-US" sz="1300" dirty="0">
                <a:solidFill>
                  <a:srgbClr val="1F1630"/>
                </a:solidFill>
                <a:latin typeface="Calibri" pitchFamily="34" charset="0"/>
                <a:ea typeface="Calibri" pitchFamily="34" charset="-122"/>
                <a:cs typeface="Calibri" pitchFamily="34" charset="-120"/>
              </a:rPr>
              <a:t>Of the pieces predicted as a composer, the share that really are.</a:t>
            </a:r>
            <a:endParaRPr lang="en-US" sz="1400" dirty="0"/>
          </a:p>
        </p:txBody>
      </p:sp>
      <p:sp>
        <p:nvSpPr>
          <p:cNvPr id="7" name="Text 3"/>
          <p:cNvSpPr txBox="1"/>
          <p:nvPr/>
        </p:nvSpPr>
        <p:spPr>
          <a:xfrm>
            <a:off x="3246120" y="3977640"/>
            <a:ext cx="2606040" cy="777240"/>
          </a:xfrm>
          <a:prstGeom prst="rect">
            <a:avLst/>
          </a:prstGeom>
          <a:noFill/>
          <a:ln/>
        </p:spPr>
        <p:txBody>
          <a:bodyPr wrap="square" lIns="0" tIns="0" rIns="0" bIns="0" rtlCol="0" anchor="t"/>
          <a:lstStyle/>
          <a:p>
            <a:pPr indent="0" marL="0">
              <a:buNone/>
            </a:pPr>
            <a:r>
              <a:rPr lang="en-US" sz="1400" b="1" dirty="0">
                <a:solidFill>
                  <a:srgbClr val="6B3FA0"/>
                </a:solidFill>
                <a:latin typeface="Calibri" pitchFamily="34" charset="0"/>
                <a:ea typeface="Calibri" pitchFamily="34" charset="-122"/>
                <a:cs typeface="Calibri" pitchFamily="34" charset="-120"/>
              </a:rPr>
              <a:t>Recall</a:t>
            </a:r>
            <a:endParaRPr lang="en-US" sz="1400" dirty="0"/>
          </a:p>
          <a:p>
            <a:pPr indent="0" marL="0">
              <a:buNone/>
            </a:pPr>
            <a:r>
              <a:rPr lang="en-US" sz="1300" dirty="0">
                <a:solidFill>
                  <a:srgbClr val="1F1630"/>
                </a:solidFill>
                <a:latin typeface="Calibri" pitchFamily="34" charset="0"/>
                <a:ea typeface="Calibri" pitchFamily="34" charset="-122"/>
                <a:cs typeface="Calibri" pitchFamily="34" charset="-120"/>
              </a:rPr>
              <a:t>Of a composer's real pieces, the share we found.</a:t>
            </a:r>
            <a:endParaRPr lang="en-US" sz="1400" dirty="0"/>
          </a:p>
        </p:txBody>
      </p:sp>
      <p:sp>
        <p:nvSpPr>
          <p:cNvPr id="8" name="Text 4"/>
          <p:cNvSpPr txBox="1"/>
          <p:nvPr/>
        </p:nvSpPr>
        <p:spPr>
          <a:xfrm>
            <a:off x="6035040" y="3977640"/>
            <a:ext cx="2606040" cy="777240"/>
          </a:xfrm>
          <a:prstGeom prst="rect">
            <a:avLst/>
          </a:prstGeom>
          <a:noFill/>
          <a:ln/>
        </p:spPr>
        <p:txBody>
          <a:bodyPr wrap="square" lIns="0" tIns="0" rIns="0" bIns="0" rtlCol="0" anchor="t"/>
          <a:lstStyle/>
          <a:p>
            <a:pPr indent="0" marL="0">
              <a:buNone/>
            </a:pPr>
            <a:r>
              <a:rPr lang="en-US" sz="1400" b="1" dirty="0">
                <a:solidFill>
                  <a:srgbClr val="6B3FA0"/>
                </a:solidFill>
                <a:latin typeface="Calibri" pitchFamily="34" charset="0"/>
                <a:ea typeface="Calibri" pitchFamily="34" charset="-122"/>
                <a:cs typeface="Calibri" pitchFamily="34" charset="-120"/>
              </a:rPr>
              <a:t>F1</a:t>
            </a:r>
            <a:endParaRPr lang="en-US" sz="1400" dirty="0"/>
          </a:p>
          <a:p>
            <a:pPr indent="0" marL="0">
              <a:buNone/>
            </a:pPr>
            <a:r>
              <a:rPr lang="en-US" sz="1300" dirty="0">
                <a:solidFill>
                  <a:srgbClr val="1F1630"/>
                </a:solidFill>
                <a:latin typeface="Calibri" pitchFamily="34" charset="0"/>
                <a:ea typeface="Calibri" pitchFamily="34" charset="-122"/>
                <a:cs typeface="Calibri" pitchFamily="34" charset="-120"/>
              </a:rPr>
              <a:t>A single score that balances precision and recall.</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What the best model relies on</a:t>
            </a:r>
            <a:endParaRPr lang="en-US" sz="2800" dirty="0"/>
          </a:p>
        </p:txBody>
      </p:sp>
      <p:graphicFrame>
        <p:nvGraphicFramePr>
          <p:cNvPr id="4" name="Chart 0" descr=""/>
          <p:cNvGraphicFramePr/>
          <p:nvPr/>
        </p:nvGraphicFramePr>
        <p:xfrm>
          <a:off x="457200" y="1143000"/>
          <a:ext cx="4572000" cy="3566160"/>
        </p:xfrm>
        <a:graphic xmlns:a="http://schemas.openxmlformats.org/drawingml/2006/main">
          <a:graphicData uri="http://schemas.openxmlformats.org/drawingml/2006/chart">
            <c:chart xmlns:c="http://schemas.openxmlformats.org/drawingml/2006/chart" r:id="rId1"/>
          </a:graphicData>
        </a:graphic>
      </p:graphicFrame>
      <p:sp>
        <p:nvSpPr>
          <p:cNvPr id="5" name="gain note"/>
          <p:cNvSpPr/>
          <p:nvPr/>
        </p:nvSpPr>
        <p:spPr>
          <a:xfrm>
            <a:off x="5212080" y="1188720"/>
            <a:ext cx="3474720" cy="3474720"/>
          </a:xfrm>
          <a:prstGeom prst="roundRect">
            <a:avLst>
              <a:gd name="adj" fmla="val 2105"/>
            </a:avLst>
          </a:prstGeom>
          <a:solidFill>
            <a:srgbClr val="F1ECF8"/>
          </a:solidFill>
          <a:ln/>
        </p:spPr>
      </p:sp>
      <p:sp>
        <p:nvSpPr>
          <p:cNvPr id="6" name="Text 2"/>
          <p:cNvSpPr txBox="1"/>
          <p:nvPr/>
        </p:nvSpPr>
        <p:spPr>
          <a:xfrm>
            <a:off x="5394960" y="1325880"/>
            <a:ext cx="3108960" cy="3200400"/>
          </a:xfrm>
          <a:prstGeom prst="rect">
            <a:avLst/>
          </a:prstGeom>
          <a:noFill/>
          <a:ln/>
        </p:spPr>
        <p:txBody>
          <a:bodyPr wrap="square" lIns="0" tIns="0" rIns="0" bIns="0" rtlCol="0" anchor="t"/>
          <a:lstStyle/>
          <a:p>
            <a:pPr indent="0" marL="0">
              <a:spcAft>
                <a:spcPts val="600"/>
              </a:spcAft>
              <a:buNone/>
            </a:pPr>
            <a:r>
              <a:rPr lang="en-US" sz="1600" b="1" dirty="0">
                <a:solidFill>
                  <a:srgbClr val="6B3FA0"/>
                </a:solidFill>
                <a:latin typeface="Calibri" pitchFamily="34" charset="0"/>
                <a:ea typeface="Calibri" pitchFamily="34" charset="-122"/>
                <a:cs typeface="Calibri" pitchFamily="34" charset="-120"/>
              </a:rPr>
              <a:t>What is gain share?</a:t>
            </a:r>
            <a:endParaRPr lang="en-US" sz="1400" dirty="0"/>
          </a:p>
          <a:p>
            <a:pPr indent="0" marL="0">
              <a:spcAft>
                <a:spcPts val="800"/>
              </a:spcAft>
              <a:buNone/>
            </a:pPr>
            <a:r>
              <a:rPr lang="en-US" sz="1400" dirty="0">
                <a:solidFill>
                  <a:srgbClr val="1F1630"/>
                </a:solidFill>
                <a:latin typeface="Calibri" pitchFamily="34" charset="0"/>
                <a:ea typeface="Calibri" pitchFamily="34" charset="-122"/>
                <a:cs typeface="Calibri" pitchFamily="34" charset="-120"/>
              </a:rPr>
              <a:t>LightGBM measures how much each split reduces its error (the gain). Gains are added up per feature family and divided by the total.</a:t>
            </a:r>
            <a:endParaRPr lang="en-US" sz="1400" dirty="0"/>
          </a:p>
          <a:p>
            <a:pPr indent="0" marL="0">
              <a:spcAft>
                <a:spcPts val="800"/>
              </a:spcAft>
              <a:buNone/>
            </a:pPr>
            <a:r>
              <a:rPr lang="en-US" sz="1400" dirty="0">
                <a:solidFill>
                  <a:srgbClr val="1F1630"/>
                </a:solidFill>
                <a:latin typeface="Calibri" pitchFamily="34" charset="0"/>
                <a:ea typeface="Calibri" pitchFamily="34" charset="-122"/>
                <a:cs typeface="Calibri" pitchFamily="34" charset="-120"/>
              </a:rPr>
              <a:t>Pitch 47% means almost half of the error reduction came from pitch features.</a:t>
            </a:r>
            <a:endParaRPr lang="en-US" sz="1400" dirty="0"/>
          </a:p>
          <a:p>
            <a:pPr indent="0" marL="0">
              <a:buNone/>
            </a:pPr>
            <a:r>
              <a:rPr lang="en-US" sz="1400" dirty="0">
                <a:solidFill>
                  <a:srgbClr val="1F1630"/>
                </a:solidFill>
                <a:latin typeface="Calibri" pitchFamily="34" charset="0"/>
                <a:ea typeface="Calibri" pitchFamily="34" charset="-122"/>
                <a:cs typeface="Calibri" pitchFamily="34" charset="-120"/>
              </a:rPr>
              <a:t>Per feature, pitch, melodic and vertical are alike and over twice as useful as rhythm. Texture is near zero: piano only.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Era from one feature family at a time</a:t>
            </a:r>
            <a:endParaRPr lang="en-US" sz="2800" dirty="0"/>
          </a:p>
        </p:txBody>
      </p:sp>
      <p:graphicFrame>
        <p:nvGraphicFramePr>
          <p:cNvPr id="4" name="Chart 0" descr=""/>
          <p:cNvGraphicFramePr/>
          <p:nvPr/>
        </p:nvGraphicFramePr>
        <p:xfrm>
          <a:off x="457200" y="1143000"/>
          <a:ext cx="5852160" cy="3611880"/>
        </p:xfrm>
        <a:graphic xmlns:a="http://schemas.openxmlformats.org/drawingml/2006/main">
          <a:graphicData uri="http://schemas.openxmlformats.org/drawingml/2006/chart">
            <c:chart xmlns:c="http://schemas.openxmlformats.org/drawingml/2006/chart" r:id="rId1"/>
          </a:graphicData>
        </a:graphic>
      </p:graphicFrame>
      <p:sp>
        <p:nvSpPr>
          <p:cNvPr id="5" name="era note"/>
          <p:cNvSpPr/>
          <p:nvPr/>
        </p:nvSpPr>
        <p:spPr>
          <a:xfrm>
            <a:off x="6583680" y="1280160"/>
            <a:ext cx="2103120" cy="3200400"/>
          </a:xfrm>
          <a:prstGeom prst="roundRect">
            <a:avLst>
              <a:gd name="adj" fmla="val 3478"/>
            </a:avLst>
          </a:prstGeom>
          <a:solidFill>
            <a:srgbClr val="F1ECF8"/>
          </a:solidFill>
          <a:ln/>
        </p:spPr>
      </p:sp>
      <p:sp>
        <p:nvSpPr>
          <p:cNvPr id="6" name="Text 2"/>
          <p:cNvSpPr txBox="1"/>
          <p:nvPr/>
        </p:nvSpPr>
        <p:spPr>
          <a:xfrm>
            <a:off x="6720840" y="1417320"/>
            <a:ext cx="1828800" cy="2926080"/>
          </a:xfrm>
          <a:prstGeom prst="rect">
            <a:avLst/>
          </a:prstGeom>
          <a:noFill/>
          <a:ln/>
        </p:spPr>
        <p:txBody>
          <a:bodyPr wrap="square" lIns="0" tIns="0" rIns="0" bIns="0" rtlCol="0" anchor="t"/>
          <a:lstStyle/>
          <a:p>
            <a:pPr indent="0" marL="0">
              <a:spcAft>
                <a:spcPts val="600"/>
              </a:spcAft>
              <a:buNone/>
            </a:pPr>
            <a:r>
              <a:rPr lang="en-US" sz="1600" b="1" dirty="0">
                <a:solidFill>
                  <a:srgbClr val="F2A33A"/>
                </a:solidFill>
                <a:latin typeface="Calibri" pitchFamily="34" charset="0"/>
                <a:ea typeface="Calibri" pitchFamily="34" charset="-122"/>
                <a:cs typeface="Calibri" pitchFamily="34" charset="-120"/>
              </a:rPr>
              <a:t>Baseline 0.62</a:t>
            </a:r>
            <a:endParaRPr lang="en-US" sz="1400" dirty="0"/>
          </a:p>
          <a:p>
            <a:pPr indent="0" marL="0">
              <a:spcAft>
                <a:spcPts val="800"/>
              </a:spcAft>
              <a:buNone/>
            </a:pPr>
            <a:r>
              <a:rPr lang="en-US" sz="1400" dirty="0">
                <a:solidFill>
                  <a:srgbClr val="1F1630"/>
                </a:solidFill>
                <a:latin typeface="Calibri" pitchFamily="34" charset="0"/>
                <a:ea typeface="Calibri" pitchFamily="34" charset="-122"/>
                <a:cs typeface="Calibri" pitchFamily="34" charset="-120"/>
              </a:rPr>
              <a:t>82 test pieces: 51 romantic, 18 baroque, 13 classical.</a:t>
            </a:r>
            <a:endParaRPr lang="en-US" sz="1400" dirty="0"/>
          </a:p>
          <a:p>
            <a:pPr indent="0" marL="0">
              <a:buNone/>
            </a:pPr>
            <a:r>
              <a:rPr lang="en-US" sz="1400" dirty="0">
                <a:solidFill>
                  <a:srgbClr val="1F1630"/>
                </a:solidFill>
                <a:latin typeface="Calibri" pitchFamily="34" charset="0"/>
                <a:ea typeface="Calibri" pitchFamily="34" charset="-122"/>
                <a:cs typeface="Calibri" pitchFamily="34" charset="-120"/>
              </a:rPr>
              <a:t>Texture is close to the baseline: piano only.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Where the models get confused</a:t>
            </a:r>
            <a:endParaRPr lang="en-US" sz="2800" dirty="0"/>
          </a:p>
        </p:txBody>
      </p:sp>
      <p:pic>
        <p:nvPicPr>
          <p:cNvPr id="4" name="Image 0" descr="Test confusion matrix of the LDA model">    </p:cNvPr>
          <p:cNvPicPr>
            <a:picLocks noChangeAspect="1"/>
          </p:cNvPicPr>
          <p:nvPr/>
        </p:nvPicPr>
        <p:blipFill>
          <a:blip r:embed="rId1"/>
          <a:stretch>
            <a:fillRect/>
          </a:stretch>
        </p:blipFill>
        <p:spPr>
          <a:xfrm>
            <a:off x="457200" y="1143000"/>
            <a:ext cx="4346666" cy="3520440"/>
          </a:xfrm>
          <a:prstGeom prst="rect">
            <a:avLst/>
          </a:prstGeom>
        </p:spPr>
      </p:pic>
      <p:sp>
        <p:nvSpPr>
          <p:cNvPr id="5" name="confusion note"/>
          <p:cNvSpPr/>
          <p:nvPr/>
        </p:nvSpPr>
        <p:spPr>
          <a:xfrm>
            <a:off x="5303520" y="1280160"/>
            <a:ext cx="3383280" cy="3200400"/>
          </a:xfrm>
          <a:prstGeom prst="roundRect">
            <a:avLst>
              <a:gd name="adj" fmla="val 2286"/>
            </a:avLst>
          </a:prstGeom>
          <a:solidFill>
            <a:srgbClr val="F1ECF8"/>
          </a:solidFill>
          <a:ln/>
        </p:spPr>
      </p:sp>
      <p:sp>
        <p:nvSpPr>
          <p:cNvPr id="6" name="Text 2"/>
          <p:cNvSpPr txBox="1"/>
          <p:nvPr/>
        </p:nvSpPr>
        <p:spPr>
          <a:xfrm>
            <a:off x="5486400" y="1417320"/>
            <a:ext cx="3017520" cy="2926080"/>
          </a:xfrm>
          <a:prstGeom prst="rect">
            <a:avLst/>
          </a:prstGeom>
          <a:noFill/>
          <a:ln/>
        </p:spPr>
        <p:txBody>
          <a:bodyPr wrap="square" lIns="0" tIns="0" rIns="0" bIns="0" rtlCol="0" anchor="t"/>
          <a:lstStyle/>
          <a:p>
            <a:pPr indent="0" marL="0">
              <a:spcAft>
                <a:spcPts val="600"/>
              </a:spcAft>
              <a:buNone/>
            </a:pPr>
            <a:r>
              <a:rPr lang="en-US" sz="1600" b="1" dirty="0">
                <a:solidFill>
                  <a:srgbClr val="6B3FA0"/>
                </a:solidFill>
                <a:latin typeface="Calibri" pitchFamily="34" charset="0"/>
                <a:ea typeface="Calibri" pitchFamily="34" charset="-122"/>
                <a:cs typeface="Calibri" pitchFamily="34" charset="-120"/>
              </a:rPr>
              <a:t>What it shows</a:t>
            </a:r>
            <a:endParaRPr lang="en-US" sz="1400" dirty="0"/>
          </a:p>
          <a:p>
            <a:pPr marL="342900" indent="-342900">
              <a:spcAft>
                <a:spcPts val="600"/>
              </a:spcAft>
              <a:buSzPct val="100000"/>
              <a:buChar char="•"/>
            </a:pPr>
            <a:r>
              <a:rPr lang="en-US" sz="1400" dirty="0">
                <a:solidFill>
                  <a:srgbClr val="1F1630"/>
                </a:solidFill>
                <a:latin typeface="Calibri" pitchFamily="34" charset="0"/>
                <a:ea typeface="Calibri" pitchFamily="34" charset="-122"/>
                <a:cs typeface="Calibri" pitchFamily="34" charset="-120"/>
              </a:rPr>
              <a:t>Distant styles are rarely confused: Bach 18/18, Beethoven 17/17.</a:t>
            </a:r>
            <a:endParaRPr lang="en-US" sz="1400" dirty="0"/>
          </a:p>
          <a:p>
            <a:pPr marL="342900" indent="-342900">
              <a:spcAft>
                <a:spcPts val="600"/>
              </a:spcAft>
              <a:buSzPct val="100000"/>
              <a:buChar char="•"/>
            </a:pPr>
            <a:r>
              <a:rPr lang="en-US" sz="1400" dirty="0">
                <a:solidFill>
                  <a:srgbClr val="1F1630"/>
                </a:solidFill>
                <a:latin typeface="Calibri" pitchFamily="34" charset="0"/>
                <a:ea typeface="Calibri" pitchFamily="34" charset="-122"/>
                <a:cs typeface="Calibri" pitchFamily="34" charset="-120"/>
              </a:rPr>
              <a:t>Neighbours mix: Chopin, Schumann, Schubert, Liszt; and Haydn, Mozart, Scarlatti.</a:t>
            </a:r>
            <a:endParaRPr lang="en-US" sz="1400" dirty="0"/>
          </a:p>
          <a:p>
            <a:pPr marL="342900" indent="-342900">
              <a:spcAft>
                <a:spcPts val="600"/>
              </a:spcAft>
              <a:buSzPct val="100000"/>
              <a:buChar char="•"/>
            </a:pPr>
            <a:r>
              <a:rPr lang="en-US" sz="1400" dirty="0">
                <a:solidFill>
                  <a:srgbClr val="1F1630"/>
                </a:solidFill>
                <a:latin typeface="Calibri" pitchFamily="34" charset="0"/>
                <a:ea typeface="Calibri" pitchFamily="34" charset="-122"/>
                <a:cs typeface="Calibri" pitchFamily="34" charset="-120"/>
              </a:rPr>
              <a:t>Rare composers suffer most: Brahms 3/5, Scarlatti 2/6, Scriabin 2/5.</a:t>
            </a:r>
            <a:endParaRPr lang="en-US" sz="1400" dirty="0"/>
          </a:p>
          <a:p>
            <a:pPr marL="342900" indent="-342900">
              <a:buSzPct val="100000"/>
              <a:buChar char="•"/>
            </a:pPr>
            <a:r>
              <a:rPr lang="en-US" sz="1400" dirty="0">
                <a:solidFill>
                  <a:srgbClr val="1F1630"/>
                </a:solidFill>
                <a:latin typeface="Calibri" pitchFamily="34" charset="0"/>
                <a:ea typeface="Calibri" pitchFamily="34" charset="-122"/>
                <a:cs typeface="Calibri" pitchFamily="34" charset="-120"/>
              </a:rPr>
              <a:t>Similar statistics make same-era composers hard to tell apart.</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PCA scatter: what it shows</a:t>
            </a:r>
            <a:endParaRPr lang="en-US" sz="2800" dirty="0"/>
          </a:p>
        </p:txBody>
      </p:sp>
      <p:pic>
        <p:nvPicPr>
          <p:cNvPr id="4" name="Image 0" descr="PCA scatter plot of pieces coloured by composer">    </p:cNvPr>
          <p:cNvPicPr>
            <a:picLocks noChangeAspect="1"/>
          </p:cNvPicPr>
          <p:nvPr/>
        </p:nvPicPr>
        <p:blipFill>
          <a:blip r:embed="rId1"/>
          <a:stretch>
            <a:fillRect/>
          </a:stretch>
        </p:blipFill>
        <p:spPr>
          <a:xfrm>
            <a:off x="457200" y="1188720"/>
            <a:ext cx="4572000" cy="3429000"/>
          </a:xfrm>
          <a:prstGeom prst="rect">
            <a:avLst/>
          </a:prstGeom>
        </p:spPr>
      </p:pic>
      <p:sp>
        <p:nvSpPr>
          <p:cNvPr id="5" name="Text 1"/>
          <p:cNvSpPr txBox="1"/>
          <p:nvPr/>
        </p:nvSpPr>
        <p:spPr>
          <a:xfrm>
            <a:off x="5257800" y="1234440"/>
            <a:ext cx="3429000" cy="33832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1630"/>
                </a:solidFill>
                <a:latin typeface="Calibri" pitchFamily="34" charset="0"/>
                <a:ea typeface="Calibri" pitchFamily="34" charset="-122"/>
                <a:cs typeface="Calibri" pitchFamily="34" charset="-120"/>
              </a:rPr>
              <a:t>Each dot is a piece; close dots have similar statistics.</a:t>
            </a:r>
            <a:endParaRPr lang="en-US" sz="1400" dirty="0"/>
          </a:p>
          <a:p>
            <a:pPr marL="342900" indent="-342900">
              <a:spcAft>
                <a:spcPts val="700"/>
              </a:spcAft>
              <a:buSzPct val="100000"/>
              <a:buChar char="•"/>
            </a:pPr>
            <a:r>
              <a:rPr lang="en-US" sz="1400" dirty="0">
                <a:solidFill>
                  <a:srgbClr val="1F1630"/>
                </a:solidFill>
                <a:latin typeface="Calibri" pitchFamily="34" charset="0"/>
                <a:ea typeface="Calibri" pitchFamily="34" charset="-122"/>
                <a:cs typeface="Calibri" pitchFamily="34" charset="-120"/>
              </a:rPr>
              <a:t>Distant styles separate: Bach far left, Liszt far right.</a:t>
            </a:r>
            <a:endParaRPr lang="en-US" sz="1400" dirty="0"/>
          </a:p>
          <a:p>
            <a:pPr marL="342900" indent="-342900">
              <a:spcAft>
                <a:spcPts val="700"/>
              </a:spcAft>
              <a:buSzPct val="100000"/>
              <a:buChar char="•"/>
            </a:pPr>
            <a:r>
              <a:rPr lang="en-US" sz="1400" dirty="0">
                <a:solidFill>
                  <a:srgbClr val="1F1630"/>
                </a:solidFill>
                <a:latin typeface="Calibri" pitchFamily="34" charset="0"/>
                <a:ea typeface="Calibri" pitchFamily="34" charset="-122"/>
                <a:cs typeface="Calibri" pitchFamily="34" charset="-120"/>
              </a:rPr>
              <a:t>Same-era neighbours overlap: Haydn, Mozart, Scarlatti, and the romantic pianists in the middle.</a:t>
            </a:r>
            <a:endParaRPr lang="en-US" sz="1400" dirty="0"/>
          </a:p>
          <a:p>
            <a:pPr marL="342900" indent="-342900">
              <a:spcAft>
                <a:spcPts val="700"/>
              </a:spcAft>
              <a:buSzPct val="100000"/>
              <a:buChar char="•"/>
            </a:pPr>
            <a:r>
              <a:rPr lang="en-US" sz="1400" dirty="0">
                <a:solidFill>
                  <a:srgbClr val="1F1630"/>
                </a:solidFill>
                <a:latin typeface="Calibri" pitchFamily="34" charset="0"/>
                <a:ea typeface="Calibri" pitchFamily="34" charset="-122"/>
                <a:cs typeface="Calibri" pitchFamily="34" charset="-120"/>
              </a:rPr>
              <a:t>Rough era order: baroque and classical left, romantic right.</a:t>
            </a:r>
            <a:endParaRPr lang="en-US" sz="1400" dirty="0"/>
          </a:p>
          <a:p>
            <a:pPr marL="342900" indent="-342900">
              <a:buSzPct val="100000"/>
              <a:buChar char="•"/>
            </a:pPr>
            <a:r>
              <a:rPr lang="en-US" sz="1400" dirty="0">
                <a:solidFill>
                  <a:srgbClr val="1F1630"/>
                </a:solidFill>
                <a:latin typeface="Calibri" pitchFamily="34" charset="0"/>
                <a:ea typeface="Calibri" pitchFamily="34" charset="-122"/>
                <a:cs typeface="Calibri" pitchFamily="34" charset="-120"/>
              </a:rPr>
              <a:t>Axes are PC1 and PC2 (27% of variance); colours were added after.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1F1630"/>
                </a:solidFill>
                <a:latin typeface="Cambria" pitchFamily="34" charset="0"/>
                <a:ea typeface="Cambria" pitchFamily="34" charset="-122"/>
                <a:cs typeface="Cambria" pitchFamily="34" charset="-120"/>
              </a:rPr>
              <a:t>PCA and pairwise experiments</a:t>
            </a:r>
            <a:endParaRPr lang="en-US" sz="2800" dirty="0"/>
          </a:p>
        </p:txBody>
      </p:sp>
      <p:graphicFrame>
        <p:nvGraphicFramePr>
          <p:cNvPr id="4" name="Chart 0" descr=""/>
          <p:cNvGraphicFramePr/>
          <p:nvPr/>
        </p:nvGraphicFramePr>
        <p:xfrm>
          <a:off x="457200" y="114300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5" name="pairwise card"/>
          <p:cNvSpPr/>
          <p:nvPr/>
        </p:nvSpPr>
        <p:spPr>
          <a:xfrm>
            <a:off x="6035040" y="1280160"/>
            <a:ext cx="2651760" cy="1463040"/>
          </a:xfrm>
          <a:prstGeom prst="roundRect">
            <a:avLst>
              <a:gd name="adj" fmla="val 5000"/>
            </a:avLst>
          </a:prstGeom>
          <a:solidFill>
            <a:srgbClr val="F1ECF8"/>
          </a:solidFill>
          <a:ln/>
        </p:spPr>
      </p:sp>
      <p:sp>
        <p:nvSpPr>
          <p:cNvPr id="6" name="Text 2"/>
          <p:cNvSpPr txBox="1"/>
          <p:nvPr/>
        </p:nvSpPr>
        <p:spPr>
          <a:xfrm>
            <a:off x="6172200" y="1371600"/>
            <a:ext cx="2377440" cy="731520"/>
          </a:xfrm>
          <a:prstGeom prst="rect">
            <a:avLst/>
          </a:prstGeom>
          <a:noFill/>
          <a:ln/>
        </p:spPr>
        <p:txBody>
          <a:bodyPr wrap="square" lIns="0" tIns="0" rIns="0" bIns="0" rtlCol="0" anchor="ctr"/>
          <a:lstStyle/>
          <a:p>
            <a:pPr indent="0" marL="0">
              <a:buNone/>
            </a:pPr>
            <a:r>
              <a:rPr lang="en-US" sz="3600" b="1" dirty="0">
                <a:solidFill>
                  <a:srgbClr val="6B3FA0"/>
                </a:solidFill>
                <a:latin typeface="Cambria" pitchFamily="34" charset="0"/>
                <a:ea typeface="Cambria" pitchFamily="34" charset="-122"/>
                <a:cs typeface="Cambria" pitchFamily="34" charset="-120"/>
              </a:rPr>
              <a:t>0.97</a:t>
            </a:r>
            <a:endParaRPr lang="en-US" sz="3600" dirty="0"/>
          </a:p>
        </p:txBody>
      </p:sp>
      <p:sp>
        <p:nvSpPr>
          <p:cNvPr id="7" name="Text 3"/>
          <p:cNvSpPr txBox="1"/>
          <p:nvPr/>
        </p:nvSpPr>
        <p:spPr>
          <a:xfrm>
            <a:off x="6172200" y="2103120"/>
            <a:ext cx="2377440" cy="548640"/>
          </a:xfrm>
          <a:prstGeom prst="rect">
            <a:avLst/>
          </a:prstGeom>
          <a:noFill/>
          <a:ln/>
        </p:spPr>
        <p:txBody>
          <a:bodyPr wrap="square" lIns="0" tIns="0" rIns="0" bIns="0" rtlCol="0" anchor="t"/>
          <a:lstStyle/>
          <a:p>
            <a:pPr indent="0" marL="0">
              <a:buNone/>
            </a:pPr>
            <a:r>
              <a:rPr lang="en-US" sz="1300" dirty="0">
                <a:solidFill>
                  <a:srgbClr val="1F1630"/>
                </a:solidFill>
                <a:latin typeface="Calibri" pitchFamily="34" charset="0"/>
                <a:ea typeface="Calibri" pitchFamily="34" charset="-122"/>
                <a:cs typeface="Calibri" pitchFamily="34" charset="-120"/>
              </a:rPr>
              <a:t>mean accuracy over 78 composer pairs</a:t>
            </a:r>
            <a:endParaRPr lang="en-US" sz="1300" dirty="0"/>
          </a:p>
        </p:txBody>
      </p:sp>
      <p:sp>
        <p:nvSpPr>
          <p:cNvPr id="8" name="pca card"/>
          <p:cNvSpPr/>
          <p:nvPr/>
        </p:nvSpPr>
        <p:spPr>
          <a:xfrm>
            <a:off x="6035040" y="2926080"/>
            <a:ext cx="2651760" cy="1554480"/>
          </a:xfrm>
          <a:prstGeom prst="roundRect">
            <a:avLst>
              <a:gd name="adj" fmla="val 4706"/>
            </a:avLst>
          </a:prstGeom>
          <a:solidFill>
            <a:srgbClr val="F1ECF8"/>
          </a:solidFill>
          <a:ln/>
        </p:spPr>
      </p:sp>
      <p:sp>
        <p:nvSpPr>
          <p:cNvPr id="9" name="Text 5"/>
          <p:cNvSpPr txBox="1"/>
          <p:nvPr/>
        </p:nvSpPr>
        <p:spPr>
          <a:xfrm>
            <a:off x="6172200" y="3017520"/>
            <a:ext cx="2377440" cy="1371600"/>
          </a:xfrm>
          <a:prstGeom prst="rect">
            <a:avLst/>
          </a:prstGeom>
          <a:noFill/>
          <a:ln/>
        </p:spPr>
        <p:txBody>
          <a:bodyPr wrap="square" lIns="0" tIns="0" rIns="0" bIns="0" rtlCol="0" anchor="t"/>
          <a:lstStyle/>
          <a:p>
            <a:pPr indent="0" marL="0">
              <a:buNone/>
            </a:pPr>
            <a:r>
              <a:rPr lang="en-US" sz="1400" dirty="0">
                <a:solidFill>
                  <a:srgbClr val="1F1630"/>
                </a:solidFill>
                <a:latin typeface="Calibri" pitchFamily="34" charset="0"/>
                <a:ea typeface="Calibri" pitchFamily="34" charset="-122"/>
                <a:cs typeface="Calibri" pitchFamily="34" charset="-120"/>
              </a:rPr>
              <a:t>Dev accuracy rises with components: 0.45 at 2, 0.86 at 100.</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547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omposer Classification">
  <a:themeElements>
    <a:clrScheme name="Composer Classification">
      <a:dk1>
        <a:srgbClr val="1F1630"/>
      </a:dk1>
      <a:lt1>
        <a:srgbClr val="FFFFFF"/>
      </a:lt1>
      <a:dk2>
        <a:srgbClr val="2A1740"/>
      </a:dk2>
      <a:lt2>
        <a:srgbClr val="F1ECF8"/>
      </a:lt2>
      <a:accent1>
        <a:srgbClr val="6B3FA0"/>
      </a:accent1>
      <a:accent2>
        <a:srgbClr val="F2A33A"/>
      </a:accent2>
      <a:accent3>
        <a:srgbClr val="3FA796"/>
      </a:accent3>
      <a:accent4>
        <a:srgbClr val="D1495B"/>
      </a:accent4>
      <a:accent5>
        <a:srgbClr val="8E7DBE"/>
      </a:accent5>
      <a:accent6>
        <a:srgbClr val="BFB5D6"/>
      </a:accent6>
      <a:hlink>
        <a:srgbClr val="6B3FA0"/>
      </a:hlink>
      <a:folHlink>
        <a:srgbClr val="8E7DBE"/>
      </a:folHlink>
    </a:clrScheme>
    <a:fontScheme name="Composer Classific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Composer Classification from MIDI</dc:title>
  <dc:subject>UE24CS352A Machine Learning Mini-Project</dc:subject>
  <dc:creator>PptxGenJS</dc:creator>
  <cp:lastModifiedBy>PptxGenJS</cp:lastModifiedBy>
  <cp:revision>1</cp:revision>
  <dcterms:created xsi:type="dcterms:W3CDTF">2026-10-15T01:10:14Z</dcterms:created>
  <dcterms:modified xsi:type="dcterms:W3CDTF">2026-10-15T01:10:14Z</dcterms:modified>
</cp:coreProperties>
</file>